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4" r:id="rId1"/>
  </p:sldMasterIdLst>
  <p:notesMasterIdLst>
    <p:notesMasterId r:id="rId10"/>
  </p:notesMasterIdLst>
  <p:sldIdLst>
    <p:sldId id="256" r:id="rId2"/>
    <p:sldId id="275" r:id="rId3"/>
    <p:sldId id="282" r:id="rId4"/>
    <p:sldId id="287" r:id="rId5"/>
    <p:sldId id="288" r:id="rId6"/>
    <p:sldId id="279" r:id="rId7"/>
    <p:sldId id="289" r:id="rId8"/>
    <p:sldId id="290" r:id="rId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1"/>
    </p:embeddedFon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Mulish" panose="02020500000000000000" charset="0"/>
      <p:regular r:id="rId16"/>
      <p:bold r:id="rId17"/>
      <p:italic r:id="rId18"/>
      <p:boldItalic r:id="rId19"/>
    </p:embeddedFont>
    <p:embeddedFont>
      <p:font typeface="Nunito" pitchFamily="2" charset="0"/>
      <p:regular r:id="rId20"/>
      <p:bold r:id="rId21"/>
      <p:italic r:id="rId22"/>
      <p:boldItalic r:id="rId23"/>
    </p:embeddedFont>
    <p:embeddedFont>
      <p:font typeface="Nunito Light" pitchFamily="2" charset="0"/>
      <p:regular r:id="rId24"/>
      <p:italic r:id="rId25"/>
    </p:embeddedFont>
    <p:embeddedFont>
      <p:font typeface="Quicksand" panose="02020500000000000000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019DA4-2A34-4750-8EF4-9AB92BCC7A62}">
  <a:tblStyle styleId="{23019DA4-2A34-4750-8EF4-9AB92BCC7A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340135a08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1340135a08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>
          <a:extLst>
            <a:ext uri="{FF2B5EF4-FFF2-40B4-BE49-F238E27FC236}">
              <a16:creationId xmlns:a16="http://schemas.microsoft.com/office/drawing/2014/main" id="{D30AE637-8FA1-1AA6-D1E9-FFBBFBDE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32:notes">
            <a:extLst>
              <a:ext uri="{FF2B5EF4-FFF2-40B4-BE49-F238E27FC236}">
                <a16:creationId xmlns:a16="http://schemas.microsoft.com/office/drawing/2014/main" id="{E9C19FCB-392D-0D67-8FA3-B38226F66E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32:notes">
            <a:extLst>
              <a:ext uri="{FF2B5EF4-FFF2-40B4-BE49-F238E27FC236}">
                <a16:creationId xmlns:a16="http://schemas.microsoft.com/office/drawing/2014/main" id="{36C3A787-ABC6-015E-4795-2BD16179F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5642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>
          <a:extLst>
            <a:ext uri="{FF2B5EF4-FFF2-40B4-BE49-F238E27FC236}">
              <a16:creationId xmlns:a16="http://schemas.microsoft.com/office/drawing/2014/main" id="{195323B6-9B7A-F13A-5048-7B0BB50B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54dda1946d_6_344:notes">
            <a:extLst>
              <a:ext uri="{FF2B5EF4-FFF2-40B4-BE49-F238E27FC236}">
                <a16:creationId xmlns:a16="http://schemas.microsoft.com/office/drawing/2014/main" id="{3D0DA95E-3CEF-A1D0-99B9-D696E8AB7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54dda1946d_6_344:notes">
            <a:extLst>
              <a:ext uri="{FF2B5EF4-FFF2-40B4-BE49-F238E27FC236}">
                <a16:creationId xmlns:a16="http://schemas.microsoft.com/office/drawing/2014/main" id="{DADA3309-DDB9-80F0-B79A-B385395D3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709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>
          <a:extLst>
            <a:ext uri="{FF2B5EF4-FFF2-40B4-BE49-F238E27FC236}">
              <a16:creationId xmlns:a16="http://schemas.microsoft.com/office/drawing/2014/main" id="{E3FF4F99-8DFE-D5C6-6C0E-DFA7EE6F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340135a080_2_0:notes">
            <a:extLst>
              <a:ext uri="{FF2B5EF4-FFF2-40B4-BE49-F238E27FC236}">
                <a16:creationId xmlns:a16="http://schemas.microsoft.com/office/drawing/2014/main" id="{FF47B01F-60A8-0DFD-8881-3F2B85E27C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1340135a080_2_0:notes">
            <a:extLst>
              <a:ext uri="{FF2B5EF4-FFF2-40B4-BE49-F238E27FC236}">
                <a16:creationId xmlns:a16="http://schemas.microsoft.com/office/drawing/2014/main" id="{7A0ADC18-8B27-EB97-FA37-2D8254DF6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4917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17d1415e7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17d1415e7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>
          <a:extLst>
            <a:ext uri="{FF2B5EF4-FFF2-40B4-BE49-F238E27FC236}">
              <a16:creationId xmlns:a16="http://schemas.microsoft.com/office/drawing/2014/main" id="{E027DFCC-1128-6B75-532F-034F499F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17d1415e74_0_14:notes">
            <a:extLst>
              <a:ext uri="{FF2B5EF4-FFF2-40B4-BE49-F238E27FC236}">
                <a16:creationId xmlns:a16="http://schemas.microsoft.com/office/drawing/2014/main" id="{7C93F5AB-0186-3C8E-8E57-D1CA7F7386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17d1415e74_0_14:notes">
            <a:extLst>
              <a:ext uri="{FF2B5EF4-FFF2-40B4-BE49-F238E27FC236}">
                <a16:creationId xmlns:a16="http://schemas.microsoft.com/office/drawing/2014/main" id="{0D67CFFA-5A89-264F-0392-2DC279519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0812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>
          <a:extLst>
            <a:ext uri="{FF2B5EF4-FFF2-40B4-BE49-F238E27FC236}">
              <a16:creationId xmlns:a16="http://schemas.microsoft.com/office/drawing/2014/main" id="{E1FBD73D-8B2C-D1C8-F5BE-C082A10A8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17d1415e74_0_14:notes">
            <a:extLst>
              <a:ext uri="{FF2B5EF4-FFF2-40B4-BE49-F238E27FC236}">
                <a16:creationId xmlns:a16="http://schemas.microsoft.com/office/drawing/2014/main" id="{8CC728DA-075D-FFC9-AACA-EA34E64721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17d1415e74_0_14:notes">
            <a:extLst>
              <a:ext uri="{FF2B5EF4-FFF2-40B4-BE49-F238E27FC236}">
                <a16:creationId xmlns:a16="http://schemas.microsoft.com/office/drawing/2014/main" id="{0B0F74D0-C47B-51C0-A8B9-109FBD209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426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9" name="Google Shape;39;p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" name="Google Shape;43;p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2" name="Google Shape;52;p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" name="Google Shape;53;p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4" name="Google Shape;54;p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5" name="Google Shape;155;p1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6" name="Google Shape;156;p1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7" name="Google Shape;157;p1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9" name="Google Shape;159;p1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1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ubTitle" idx="3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4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5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6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8" r:id="rId6"/>
    <p:sldLayoutId id="2147483663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6000" dirty="0"/>
              <a:t>AI </a:t>
            </a:r>
            <a:r>
              <a:rPr lang="zh-TW" altLang="en-US" sz="6000" dirty="0"/>
              <a:t>論文閱讀</a:t>
            </a:r>
            <a:br>
              <a:rPr lang="en-US" altLang="zh-TW" sz="6000" dirty="0"/>
            </a:br>
            <a:r>
              <a:rPr lang="zh-TW" altLang="en-US" sz="6000" dirty="0"/>
              <a:t>輔助系統</a:t>
            </a:r>
            <a:endParaRPr sz="6000" dirty="0">
              <a:solidFill>
                <a:schemeClr val="dk2"/>
              </a:solidFill>
            </a:endParaRPr>
          </a:p>
        </p:txBody>
      </p:sp>
      <p:sp>
        <p:nvSpPr>
          <p:cNvPr id="286" name="Google Shape;286;p29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指導教授：李季青</a:t>
            </a:r>
            <a:r>
              <a:rPr lang="en-US" altLang="zh-TW" dirty="0"/>
              <a:t>			B1129060</a:t>
            </a:r>
            <a:r>
              <a:rPr lang="zh-TW" altLang="en-US" dirty="0"/>
              <a:t> 劉曉帆</a:t>
            </a:r>
            <a:endParaRPr dirty="0"/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9200" y="3567175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00" y="1348663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" name="Google Shape;286;p29">
            <a:extLst>
              <a:ext uri="{FF2B5EF4-FFF2-40B4-BE49-F238E27FC236}">
                <a16:creationId xmlns:a16="http://schemas.microsoft.com/office/drawing/2014/main" id="{6629732B-7C8B-705F-540B-3EE4057D7B15}"/>
              </a:ext>
            </a:extLst>
          </p:cNvPr>
          <p:cNvSpPr txBox="1">
            <a:spLocks/>
          </p:cNvSpPr>
          <p:nvPr/>
        </p:nvSpPr>
        <p:spPr>
          <a:xfrm>
            <a:off x="1631502" y="4239131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/>
            <a:r>
              <a:rPr lang="en-US" altLang="zh-TW" sz="1200" dirty="0" err="1"/>
              <a:t>Github</a:t>
            </a:r>
            <a:r>
              <a:rPr lang="en-US" altLang="zh-TW" sz="1200" dirty="0"/>
              <a:t>: https://github.com/B1129060/AI-Assisted-Paper-Reader</a:t>
            </a:r>
            <a:endParaRPr lang="zh-TW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規格目的</a:t>
            </a:r>
            <a:endParaRPr dirty="0"/>
          </a:p>
        </p:txBody>
      </p:sp>
      <p:sp>
        <p:nvSpPr>
          <p:cNvPr id="607" name="Google Shape;607;p48"/>
          <p:cNvSpPr txBox="1">
            <a:spLocks noGrp="1"/>
          </p:cNvSpPr>
          <p:nvPr>
            <p:ph type="subTitle" idx="1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4325" lvl="0" indent="-317500" algn="l" rtl="0">
              <a:spcAft>
                <a:spcPts val="0"/>
              </a:spcAft>
              <a:buSzPts val="1400"/>
              <a:buChar char="●"/>
            </a:pPr>
            <a:r>
              <a:rPr lang="zh-TW" altLang="en-US" dirty="0"/>
              <a:t>快速生成全文摘要重點，幫助使用者快速理解文章主體思路</a:t>
            </a:r>
            <a:endParaRPr dirty="0"/>
          </a:p>
          <a:p>
            <a:pPr marL="314325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zh-TW" altLang="en-US" dirty="0"/>
              <a:t>提供翻譯，降低語言障礙</a:t>
            </a:r>
            <a:endParaRPr dirty="0"/>
          </a:p>
          <a:p>
            <a:pPr marL="314325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zh-TW" altLang="en-US" dirty="0"/>
              <a:t>生成各章節與段落之摘要重點，方便使用者對應尋找</a:t>
            </a:r>
            <a:endParaRPr lang="en-US" altLang="zh-TW" dirty="0"/>
          </a:p>
          <a:p>
            <a:pPr marL="314325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zh-TW" altLang="en-US" dirty="0"/>
              <a:t>提供一個比市面上常見的普通</a:t>
            </a:r>
            <a:r>
              <a:rPr lang="en-US" altLang="zh-TW" dirty="0"/>
              <a:t>AI</a:t>
            </a:r>
            <a:r>
              <a:rPr lang="zh-TW" altLang="en-US" dirty="0"/>
              <a:t>更能提升輔助使用者閱讀論文的系統</a:t>
            </a:r>
            <a:endParaRPr dirty="0"/>
          </a:p>
        </p:txBody>
      </p:sp>
      <p:sp>
        <p:nvSpPr>
          <p:cNvPr id="608" name="Google Shape;608;p48"/>
          <p:cNvSpPr txBox="1">
            <a:spLocks noGrp="1"/>
          </p:cNvSpPr>
          <p:nvPr>
            <p:ph type="subTitle" idx="2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7175" lvl="0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altLang="en-US" sz="1600" dirty="0"/>
              <a:t>論文過長</a:t>
            </a:r>
            <a:endParaRPr lang="en-US" altLang="zh-TW" sz="1600" dirty="0"/>
          </a:p>
          <a:p>
            <a:pPr marL="3429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r>
              <a:rPr lang="zh-TW" altLang="en-US" sz="1600" dirty="0"/>
              <a:t>難以在短時間仔細閱讀消化</a:t>
            </a:r>
            <a:endParaRPr lang="en-US" sz="1600" dirty="0"/>
          </a:p>
          <a:p>
            <a:pPr marL="257175" lvl="0" indent="-317500" algn="l" rtl="0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zh-TW" altLang="en-US" sz="1600" dirty="0"/>
              <a:t>內容複雜</a:t>
            </a:r>
            <a:endParaRPr lang="en-US" altLang="zh-TW" sz="1600" dirty="0"/>
          </a:p>
          <a:p>
            <a:pPr marL="342900" lvl="0" indent="-342900" algn="l" rtl="0">
              <a:lnSpc>
                <a:spcPct val="114000"/>
              </a:lnSpc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r>
              <a:rPr lang="zh-TW" altLang="en-US" sz="1600" dirty="0"/>
              <a:t>不好一次抓到所有重點</a:t>
            </a:r>
            <a:endParaRPr lang="en-US" sz="1600" dirty="0"/>
          </a:p>
          <a:p>
            <a:pPr marL="257175" lvl="0" indent="-31750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TW" altLang="en-US" sz="1600" dirty="0"/>
              <a:t>語言帶來的障礙</a:t>
            </a:r>
            <a:endParaRPr lang="en-US" altLang="zh-TW" sz="1600" dirty="0"/>
          </a:p>
          <a:p>
            <a:pPr marL="257175" lvl="0" indent="-31750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 altLang="zh-TW" sz="1600" dirty="0"/>
              <a:t>AI</a:t>
            </a:r>
            <a:r>
              <a:rPr lang="zh-TW" altLang="en-US" sz="1600" dirty="0"/>
              <a:t>提供的摘要無法直接對回原文</a:t>
            </a:r>
            <a:endParaRPr lang="en-US" altLang="zh-TW" sz="1600" dirty="0"/>
          </a:p>
          <a:p>
            <a:pPr marL="257175" lvl="0" indent="-317500" algn="l" rtl="0">
              <a:lnSpc>
                <a:spcPct val="114000"/>
              </a:lnSpc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r>
              <a:rPr lang="zh-TW" altLang="en-US" sz="1600" dirty="0"/>
              <a:t>難以定位重要段落</a:t>
            </a:r>
            <a:endParaRPr lang="en-US" altLang="zh-TW" sz="16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09" name="Google Shape;609;p48"/>
          <p:cNvSpPr txBox="1">
            <a:spLocks noGrp="1"/>
          </p:cNvSpPr>
          <p:nvPr>
            <p:ph type="subTitle" idx="3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閱讀論文時的常見難題</a:t>
            </a:r>
            <a:endParaRPr dirty="0"/>
          </a:p>
        </p:txBody>
      </p:sp>
      <p:sp>
        <p:nvSpPr>
          <p:cNvPr id="610" name="Google Shape;610;p48"/>
          <p:cNvSpPr txBox="1">
            <a:spLocks noGrp="1"/>
          </p:cNvSpPr>
          <p:nvPr>
            <p:ph type="subTitle" idx="4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本系統希望帶來的幫助</a:t>
            </a:r>
            <a:endParaRPr dirty="0"/>
          </a:p>
        </p:txBody>
      </p:sp>
      <p:sp>
        <p:nvSpPr>
          <p:cNvPr id="611" name="Google Shape;611;p4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>
          <a:extLst>
            <a:ext uri="{FF2B5EF4-FFF2-40B4-BE49-F238E27FC236}">
              <a16:creationId xmlns:a16="http://schemas.microsoft.com/office/drawing/2014/main" id="{0C51D390-35B9-3DA3-B0F0-34E5D2A3C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>
            <a:extLst>
              <a:ext uri="{FF2B5EF4-FFF2-40B4-BE49-F238E27FC236}">
                <a16:creationId xmlns:a16="http://schemas.microsoft.com/office/drawing/2014/main" id="{732C2DF1-8A50-69D6-5E67-7932EDB9BB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規格範圍</a:t>
            </a:r>
            <a:endParaRPr dirty="0"/>
          </a:p>
        </p:txBody>
      </p:sp>
      <p:sp>
        <p:nvSpPr>
          <p:cNvPr id="504" name="Google Shape;504;p44">
            <a:extLst>
              <a:ext uri="{FF2B5EF4-FFF2-40B4-BE49-F238E27FC236}">
                <a16:creationId xmlns:a16="http://schemas.microsoft.com/office/drawing/2014/main" id="{D1613D33-CA1D-9F00-6FA5-E7EB2DAA6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zh-TW" altLang="en-US" sz="2800" dirty="0"/>
              <a:t>提供論文全文重點、總結和翻譯</a:t>
            </a:r>
            <a:endParaRPr sz="2800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zh-TW" altLang="en-US" sz="2800" dirty="0"/>
              <a:t>提供段落層級的原文輔助理解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zh-TW" altLang="en-US" sz="2800" dirty="0"/>
              <a:t>語音朗讀提供使用者多種吸收方式</a:t>
            </a:r>
            <a:endParaRPr lang="en-US" sz="2800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zh-TW" altLang="en-US" sz="2800" dirty="0"/>
              <a:t>互動式閱讀系統</a:t>
            </a:r>
            <a:endParaRPr lang="en-US" sz="2800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zh-TW" altLang="en-US" sz="2800" dirty="0"/>
              <a:t>簡潔的</a:t>
            </a:r>
            <a:r>
              <a:rPr lang="en-US" altLang="zh-TW" sz="2800" dirty="0"/>
              <a:t>UI</a:t>
            </a:r>
            <a:r>
              <a:rPr lang="zh-TW" altLang="en-US" sz="2800" dirty="0"/>
              <a:t>介面降低上手複雜度</a:t>
            </a:r>
            <a:endParaRPr sz="2800" dirty="0"/>
          </a:p>
        </p:txBody>
      </p:sp>
      <p:sp>
        <p:nvSpPr>
          <p:cNvPr id="505" name="Google Shape;505;p44">
            <a:extLst>
              <a:ext uri="{FF2B5EF4-FFF2-40B4-BE49-F238E27FC236}">
                <a16:creationId xmlns:a16="http://schemas.microsoft.com/office/drawing/2014/main" id="{865CA7A7-B0CE-5D46-F207-B1B87DAAFA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75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>
          <a:extLst>
            <a:ext uri="{FF2B5EF4-FFF2-40B4-BE49-F238E27FC236}">
              <a16:creationId xmlns:a16="http://schemas.microsoft.com/office/drawing/2014/main" id="{83210F25-B239-1917-0B61-E57AAD3C2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>
            <a:extLst>
              <a:ext uri="{FF2B5EF4-FFF2-40B4-BE49-F238E27FC236}">
                <a16:creationId xmlns:a16="http://schemas.microsoft.com/office/drawing/2014/main" id="{28AFB8D3-3A2E-0A32-A014-15D6E70599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系統架構</a:t>
            </a:r>
            <a:endParaRPr dirty="0"/>
          </a:p>
        </p:txBody>
      </p:sp>
      <p:sp>
        <p:nvSpPr>
          <p:cNvPr id="463" name="Google Shape;463;p42">
            <a:extLst>
              <a:ext uri="{FF2B5EF4-FFF2-40B4-BE49-F238E27FC236}">
                <a16:creationId xmlns:a16="http://schemas.microsoft.com/office/drawing/2014/main" id="{C159FC9E-0465-DA37-A454-9EF5EC0283A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3547" y="24616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zh-TW" altLang="en-US" dirty="0"/>
              <a:t>用</a:t>
            </a:r>
            <a:r>
              <a:rPr lang="en-US" altLang="zh-TW" dirty="0"/>
              <a:t>react</a:t>
            </a:r>
            <a:r>
              <a:rPr lang="zh-TW" altLang="en-US" dirty="0"/>
              <a:t>網頁呈現使用者介面</a:t>
            </a:r>
            <a:endParaRPr dirty="0"/>
          </a:p>
        </p:txBody>
      </p:sp>
      <p:sp>
        <p:nvSpPr>
          <p:cNvPr id="464" name="Google Shape;464;p42">
            <a:extLst>
              <a:ext uri="{FF2B5EF4-FFF2-40B4-BE49-F238E27FC236}">
                <a16:creationId xmlns:a16="http://schemas.microsoft.com/office/drawing/2014/main" id="{C6DE885A-3D97-C3F2-E83C-8F517B6864E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380268" y="2461649"/>
            <a:ext cx="2175300" cy="1531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zh-TW" altLang="en-US" dirty="0"/>
              <a:t>來實作後端流程控制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dirty="0"/>
              <a:t>Pymupdf4llm</a:t>
            </a:r>
            <a:r>
              <a:rPr lang="zh-TW" altLang="en-US" dirty="0"/>
              <a:t>完成論文內容抽取</a:t>
            </a:r>
            <a:endParaRPr lang="en-US" altLang="zh-TW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dirty="0"/>
              <a:t>Open AI </a:t>
            </a:r>
            <a:r>
              <a:rPr lang="zh-TW" altLang="en-US" dirty="0"/>
              <a:t>完成摘要和重點生成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5" name="Google Shape;465;p42">
            <a:extLst>
              <a:ext uri="{FF2B5EF4-FFF2-40B4-BE49-F238E27FC236}">
                <a16:creationId xmlns:a16="http://schemas.microsoft.com/office/drawing/2014/main" id="{A128AC07-275D-CBFE-10F6-AC87FB3753A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926996" y="24616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將論文處理成果儲存在本地檔案系統以供多次使用</a:t>
            </a:r>
            <a:endParaRPr dirty="0"/>
          </a:p>
        </p:txBody>
      </p:sp>
      <p:sp>
        <p:nvSpPr>
          <p:cNvPr id="466" name="Google Shape;466;p42">
            <a:extLst>
              <a:ext uri="{FF2B5EF4-FFF2-40B4-BE49-F238E27FC236}">
                <a16:creationId xmlns:a16="http://schemas.microsoft.com/office/drawing/2014/main" id="{3D269F16-F912-32ED-077D-30DB4F25512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33547" y="2080650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前端</a:t>
            </a:r>
            <a:endParaRPr dirty="0"/>
          </a:p>
        </p:txBody>
      </p:sp>
      <p:sp>
        <p:nvSpPr>
          <p:cNvPr id="467" name="Google Shape;467;p42">
            <a:extLst>
              <a:ext uri="{FF2B5EF4-FFF2-40B4-BE49-F238E27FC236}">
                <a16:creationId xmlns:a16="http://schemas.microsoft.com/office/drawing/2014/main" id="{07F2C3A8-1A30-62B1-4894-05645353B1C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380269" y="2080650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後端</a:t>
            </a:r>
            <a:endParaRPr dirty="0"/>
          </a:p>
        </p:txBody>
      </p:sp>
      <p:sp>
        <p:nvSpPr>
          <p:cNvPr id="468" name="Google Shape;468;p42">
            <a:extLst>
              <a:ext uri="{FF2B5EF4-FFF2-40B4-BE49-F238E27FC236}">
                <a16:creationId xmlns:a16="http://schemas.microsoft.com/office/drawing/2014/main" id="{C3DF30AF-2E03-B0F9-A16B-F484FA518EE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926997" y="2080650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本地檔案系統</a:t>
            </a:r>
            <a:endParaRPr dirty="0"/>
          </a:p>
        </p:txBody>
      </p:sp>
      <p:sp>
        <p:nvSpPr>
          <p:cNvPr id="469" name="Google Shape;469;p42">
            <a:extLst>
              <a:ext uri="{FF2B5EF4-FFF2-40B4-BE49-F238E27FC236}">
                <a16:creationId xmlns:a16="http://schemas.microsoft.com/office/drawing/2014/main" id="{8BC8156C-1049-00EF-B0D3-75ADDA9EEF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8918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>
          <a:extLst>
            <a:ext uri="{FF2B5EF4-FFF2-40B4-BE49-F238E27FC236}">
              <a16:creationId xmlns:a16="http://schemas.microsoft.com/office/drawing/2014/main" id="{4A00DEE5-ADB0-5C3D-9A62-8B98726C8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8">
            <a:extLst>
              <a:ext uri="{FF2B5EF4-FFF2-40B4-BE49-F238E27FC236}">
                <a16:creationId xmlns:a16="http://schemas.microsoft.com/office/drawing/2014/main" id="{FBD2A4FC-5D80-A668-6258-0B32B58926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zh-TW" altLang="en-US" dirty="0"/>
              <a:t>軟</a:t>
            </a:r>
            <a:r>
              <a:rPr lang="en-US" altLang="zh-TW" dirty="0"/>
              <a:t>/</a:t>
            </a:r>
            <a:r>
              <a:rPr lang="zh-TW" altLang="en-US" dirty="0"/>
              <a:t>硬體建構項目需求概述和環境</a:t>
            </a:r>
            <a:endParaRPr dirty="0"/>
          </a:p>
        </p:txBody>
      </p:sp>
      <p:sp>
        <p:nvSpPr>
          <p:cNvPr id="607" name="Google Shape;607;p48">
            <a:extLst>
              <a:ext uri="{FF2B5EF4-FFF2-40B4-BE49-F238E27FC236}">
                <a16:creationId xmlns:a16="http://schemas.microsoft.com/office/drawing/2014/main" id="{93AF5AB0-62C8-F70A-0960-8C9FE6E947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7175">
              <a:lnSpc>
                <a:spcPct val="114000"/>
              </a:lnSpc>
            </a:pPr>
            <a:r>
              <a:rPr lang="zh-TW" altLang="en-US" sz="1600" dirty="0"/>
              <a:t>作業系統：</a:t>
            </a:r>
            <a:r>
              <a:rPr lang="en-US" altLang="zh-TW" sz="1600" dirty="0"/>
              <a:t>Windows / Linux</a:t>
            </a:r>
          </a:p>
          <a:p>
            <a:pPr marL="257175">
              <a:lnSpc>
                <a:spcPct val="114000"/>
              </a:lnSpc>
            </a:pPr>
            <a:r>
              <a:rPr lang="zh-TW" altLang="en-US" sz="1600" dirty="0"/>
              <a:t>瀏覽器：</a:t>
            </a:r>
            <a:r>
              <a:rPr lang="en-US" altLang="zh-TW" sz="1600" dirty="0"/>
              <a:t>Chrome / Edge</a:t>
            </a:r>
          </a:p>
          <a:p>
            <a:pPr marL="257175">
              <a:lnSpc>
                <a:spcPct val="114000"/>
              </a:lnSpc>
            </a:pPr>
            <a:r>
              <a:rPr lang="zh-TW" altLang="en-US" sz="1600" dirty="0"/>
              <a:t>網路需求：需連線 </a:t>
            </a:r>
            <a:r>
              <a:rPr lang="en-US" altLang="zh-TW" sz="1600" dirty="0"/>
              <a:t>OpenAI API</a:t>
            </a:r>
          </a:p>
          <a:p>
            <a:pPr marL="257175">
              <a:lnSpc>
                <a:spcPct val="114000"/>
              </a:lnSpc>
            </a:pPr>
            <a:r>
              <a:rPr lang="zh-TW" altLang="en-US" sz="1600" dirty="0"/>
              <a:t>運行平台：本地端或伺服器</a:t>
            </a:r>
            <a:endParaRPr sz="1600" dirty="0"/>
          </a:p>
        </p:txBody>
      </p:sp>
      <p:sp>
        <p:nvSpPr>
          <p:cNvPr id="608" name="Google Shape;608;p48">
            <a:extLst>
              <a:ext uri="{FF2B5EF4-FFF2-40B4-BE49-F238E27FC236}">
                <a16:creationId xmlns:a16="http://schemas.microsoft.com/office/drawing/2014/main" id="{77BED9A2-94CF-6FFD-DEE1-B09A3D05E48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7175" lvl="0">
              <a:lnSpc>
                <a:spcPct val="114000"/>
              </a:lnSpc>
            </a:pPr>
            <a:r>
              <a:rPr lang="zh-TW" altLang="en-US" sz="1600" dirty="0"/>
              <a:t>開發語言：</a:t>
            </a:r>
            <a:r>
              <a:rPr lang="en-US" altLang="zh-TW" sz="1600" dirty="0"/>
              <a:t>Python</a:t>
            </a:r>
          </a:p>
          <a:p>
            <a:pPr marL="257175" lvl="0">
              <a:lnSpc>
                <a:spcPct val="114000"/>
              </a:lnSpc>
            </a:pPr>
            <a:r>
              <a:rPr lang="zh-TW" altLang="en-US" sz="1600" dirty="0"/>
              <a:t>前端框架：</a:t>
            </a:r>
            <a:r>
              <a:rPr lang="en-US" altLang="zh-TW" sz="1600" dirty="0"/>
              <a:t>React</a:t>
            </a:r>
          </a:p>
          <a:p>
            <a:pPr marL="257175" lvl="0">
              <a:lnSpc>
                <a:spcPct val="114000"/>
              </a:lnSpc>
            </a:pPr>
            <a:r>
              <a:rPr lang="zh-TW" altLang="en-US" sz="1600" dirty="0"/>
              <a:t>後端框架：</a:t>
            </a:r>
            <a:r>
              <a:rPr lang="en-US" altLang="zh-TW" sz="1600" dirty="0" err="1"/>
              <a:t>FastAPI</a:t>
            </a:r>
            <a:endParaRPr lang="en-US" altLang="zh-TW" sz="1600" dirty="0"/>
          </a:p>
          <a:p>
            <a:pPr marL="257175" lvl="0">
              <a:lnSpc>
                <a:spcPct val="114000"/>
              </a:lnSpc>
            </a:pPr>
            <a:r>
              <a:rPr lang="en-US" altLang="zh-TW" sz="1600" dirty="0"/>
              <a:t>PDF</a:t>
            </a:r>
            <a:r>
              <a:rPr lang="zh-TW" altLang="en-US" sz="1600" dirty="0"/>
              <a:t>處理：</a:t>
            </a:r>
            <a:r>
              <a:rPr lang="en-US" altLang="zh-TW" sz="1600" dirty="0" err="1"/>
              <a:t>PyMuPDF</a:t>
            </a:r>
            <a:r>
              <a:rPr lang="zh-TW" altLang="en-US" sz="1600" dirty="0"/>
              <a:t>、</a:t>
            </a:r>
            <a:r>
              <a:rPr lang="en-US" altLang="zh-TW" sz="1600" dirty="0"/>
              <a:t>PDF.js</a:t>
            </a:r>
          </a:p>
          <a:p>
            <a:pPr marL="257175" lvl="0">
              <a:lnSpc>
                <a:spcPct val="114000"/>
              </a:lnSpc>
            </a:pPr>
            <a:r>
              <a:rPr lang="en-US" altLang="zh-TW" sz="1600" dirty="0"/>
              <a:t>AI</a:t>
            </a:r>
            <a:r>
              <a:rPr lang="zh-TW" altLang="en-US" sz="1600" dirty="0"/>
              <a:t>服務：</a:t>
            </a:r>
            <a:r>
              <a:rPr lang="en-US" altLang="zh-TW" sz="1600" dirty="0"/>
              <a:t>OpenAI API</a:t>
            </a:r>
            <a:endParaRPr dirty="0"/>
          </a:p>
        </p:txBody>
      </p:sp>
      <p:sp>
        <p:nvSpPr>
          <p:cNvPr id="609" name="Google Shape;609;p48">
            <a:extLst>
              <a:ext uri="{FF2B5EF4-FFF2-40B4-BE49-F238E27FC236}">
                <a16:creationId xmlns:a16="http://schemas.microsoft.com/office/drawing/2014/main" id="{3F475A26-68F8-AC70-580B-146D40DF18B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系統建構需求</a:t>
            </a:r>
            <a:endParaRPr dirty="0"/>
          </a:p>
        </p:txBody>
      </p:sp>
      <p:sp>
        <p:nvSpPr>
          <p:cNvPr id="610" name="Google Shape;610;p48">
            <a:extLst>
              <a:ext uri="{FF2B5EF4-FFF2-40B4-BE49-F238E27FC236}">
                <a16:creationId xmlns:a16="http://schemas.microsoft.com/office/drawing/2014/main" id="{12EC6727-A84E-7EF0-282C-C1B98B27CEB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系統運行環境</a:t>
            </a:r>
            <a:endParaRPr dirty="0"/>
          </a:p>
        </p:txBody>
      </p:sp>
      <p:sp>
        <p:nvSpPr>
          <p:cNvPr id="611" name="Google Shape;611;p48">
            <a:extLst>
              <a:ext uri="{FF2B5EF4-FFF2-40B4-BE49-F238E27FC236}">
                <a16:creationId xmlns:a16="http://schemas.microsoft.com/office/drawing/2014/main" id="{F7570F71-C952-2C26-8380-76D210721E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4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5376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一般限制</a:t>
            </a:r>
            <a:endParaRPr dirty="0"/>
          </a:p>
        </p:txBody>
      </p:sp>
      <p:sp>
        <p:nvSpPr>
          <p:cNvPr id="718" name="Google Shape;718;p52"/>
          <p:cNvSpPr txBox="1"/>
          <p:nvPr/>
        </p:nvSpPr>
        <p:spPr>
          <a:xfrm>
            <a:off x="720000" y="1548350"/>
            <a:ext cx="4144500" cy="30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altLang="zh-TW" sz="18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pdf</a:t>
            </a:r>
            <a:r>
              <a:rPr lang="zh-TW" altLang="en-US" sz="18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檔本身的結構在抽取時會具有位置和字元的高度不確定性，難以</a:t>
            </a:r>
            <a:r>
              <a:rPr lang="en-US" altLang="zh-TW" sz="18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100%</a:t>
            </a:r>
            <a:r>
              <a:rPr lang="zh-TW" altLang="en-US" sz="18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還原完整的原文內容，時常會出現內容跳躍或缺失的情況，更難以完全清除論文中不需系統幫忙處理的內容</a:t>
            </a:r>
            <a:r>
              <a:rPr lang="en-US" altLang="zh-TW" sz="18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(</a:t>
            </a:r>
            <a:r>
              <a:rPr lang="zh-TW" altLang="en-US" sz="18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作者資訊、發行資訊、頁首頁尾內容</a:t>
            </a:r>
            <a:r>
              <a:rPr lang="en-US" altLang="zh-TW" sz="18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</a:t>
            </a:r>
            <a:r>
              <a:rPr lang="en-US" altLang="zh-TW" sz="18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etc</a:t>
            </a:r>
            <a:r>
              <a:rPr lang="zh-TW" altLang="en-US" sz="18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-US" altLang="zh-TW" sz="18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)</a:t>
            </a:r>
            <a:r>
              <a:rPr lang="zh-TW" altLang="en-US" sz="18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。</a:t>
            </a: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19" name="Google Shape;719;p52"/>
          <p:cNvSpPr txBox="1"/>
          <p:nvPr/>
        </p:nvSpPr>
        <p:spPr>
          <a:xfrm>
            <a:off x="720000" y="1199750"/>
            <a:ext cx="394121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pdf</a:t>
            </a:r>
            <a:r>
              <a:rPr lang="zh-TW" altLang="en-US" sz="20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檔難以系統化爬取的問題</a:t>
            </a:r>
            <a:endParaRPr sz="20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20" name="Google Shape;720;p52"/>
          <p:cNvSpPr/>
          <p:nvPr/>
        </p:nvSpPr>
        <p:spPr>
          <a:xfrm>
            <a:off x="5143025" y="1548350"/>
            <a:ext cx="432000" cy="432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sz="18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21" name="Google Shape;721;p52"/>
          <p:cNvSpPr/>
          <p:nvPr/>
        </p:nvSpPr>
        <p:spPr>
          <a:xfrm>
            <a:off x="5143027" y="3214900"/>
            <a:ext cx="432000" cy="432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endParaRPr sz="18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22" name="Google Shape;722;p52"/>
          <p:cNvSpPr txBox="1"/>
          <p:nvPr/>
        </p:nvSpPr>
        <p:spPr>
          <a:xfrm>
            <a:off x="5783550" y="1559001"/>
            <a:ext cx="2658600" cy="3486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altLang="zh-TW" sz="20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LLM</a:t>
            </a:r>
            <a:r>
              <a:rPr lang="zh-TW" altLang="en-US" sz="20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協助</a:t>
            </a:r>
            <a:r>
              <a:rPr lang="en-US" altLang="zh-TW" sz="20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+</a:t>
            </a:r>
            <a:r>
              <a:rPr lang="zh-TW" altLang="en-US" sz="20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規則清理</a:t>
            </a:r>
            <a:endParaRPr sz="20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23" name="Google Shape;723;p52"/>
          <p:cNvSpPr txBox="1"/>
          <p:nvPr/>
        </p:nvSpPr>
        <p:spPr>
          <a:xfrm>
            <a:off x="5783550" y="1914025"/>
            <a:ext cx="26586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盡量通過通用規則清理並交給</a:t>
            </a:r>
            <a:r>
              <a:rPr lang="en-US" altLang="zh-TW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LLM</a:t>
            </a:r>
            <a:r>
              <a:rPr lang="zh-TW" altLang="en-US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完成最後的重新分割、組裝和補足。</a:t>
            </a:r>
            <a:endParaRPr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24" name="Google Shape;724;p52"/>
          <p:cNvSpPr txBox="1"/>
          <p:nvPr/>
        </p:nvSpPr>
        <p:spPr>
          <a:xfrm>
            <a:off x="5783550" y="3225552"/>
            <a:ext cx="2658600" cy="3486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使用者互動系統</a:t>
            </a:r>
            <a:endParaRPr sz="20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25" name="Google Shape;725;p52"/>
          <p:cNvSpPr txBox="1"/>
          <p:nvPr/>
        </p:nvSpPr>
        <p:spPr>
          <a:xfrm>
            <a:off x="5783550" y="3580601"/>
            <a:ext cx="26586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藉由系統本身的段落層級原文對應，讓使用者更好自行判斷抽取內容之錯誤，並提供使用者輔助修正的功能。</a:t>
            </a:r>
            <a:endParaRPr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26" name="Google Shape;726;p5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5</a:t>
            </a:r>
            <a:endParaRPr dirty="0"/>
          </a:p>
        </p:txBody>
      </p:sp>
      <p:sp>
        <p:nvSpPr>
          <p:cNvPr id="2" name="Google Shape;719;p52">
            <a:extLst>
              <a:ext uri="{FF2B5EF4-FFF2-40B4-BE49-F238E27FC236}">
                <a16:creationId xmlns:a16="http://schemas.microsoft.com/office/drawing/2014/main" id="{6DE572CF-2B64-0D6F-4C6D-5ECD210D8B67}"/>
              </a:ext>
            </a:extLst>
          </p:cNvPr>
          <p:cNvSpPr txBox="1"/>
          <p:nvPr/>
        </p:nvSpPr>
        <p:spPr>
          <a:xfrm>
            <a:off x="5142245" y="1114063"/>
            <a:ext cx="394121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altLang="en-US" sz="20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解決方法</a:t>
            </a:r>
            <a:endParaRPr sz="20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>
          <a:extLst>
            <a:ext uri="{FF2B5EF4-FFF2-40B4-BE49-F238E27FC236}">
              <a16:creationId xmlns:a16="http://schemas.microsoft.com/office/drawing/2014/main" id="{23E0D46E-45BC-08A0-E1F2-EC7ECA26C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2">
            <a:extLst>
              <a:ext uri="{FF2B5EF4-FFF2-40B4-BE49-F238E27FC236}">
                <a16:creationId xmlns:a16="http://schemas.microsoft.com/office/drawing/2014/main" id="{E46FAF56-EB7A-7C97-B244-C5B70C4758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介面展示</a:t>
            </a:r>
            <a:endParaRPr dirty="0"/>
          </a:p>
        </p:txBody>
      </p:sp>
      <p:sp>
        <p:nvSpPr>
          <p:cNvPr id="726" name="Google Shape;726;p52">
            <a:extLst>
              <a:ext uri="{FF2B5EF4-FFF2-40B4-BE49-F238E27FC236}">
                <a16:creationId xmlns:a16="http://schemas.microsoft.com/office/drawing/2014/main" id="{56E72AC6-14AB-6C85-183B-6DB3BDE9B2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6</a:t>
            </a:r>
            <a:endParaRPr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DBD610F-05B7-4B0A-B06B-870E8EC733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58"/>
          <a:stretch>
            <a:fillRect/>
          </a:stretch>
        </p:blipFill>
        <p:spPr>
          <a:xfrm>
            <a:off x="1252719" y="1017725"/>
            <a:ext cx="6638561" cy="33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363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>
          <a:extLst>
            <a:ext uri="{FF2B5EF4-FFF2-40B4-BE49-F238E27FC236}">
              <a16:creationId xmlns:a16="http://schemas.microsoft.com/office/drawing/2014/main" id="{15DDA9CD-4C42-5C7A-CE01-2A728A9E3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2">
            <a:extLst>
              <a:ext uri="{FF2B5EF4-FFF2-40B4-BE49-F238E27FC236}">
                <a16:creationId xmlns:a16="http://schemas.microsoft.com/office/drawing/2014/main" id="{7E5CB071-BBAD-7ACC-F2EC-33038911C2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介面展示</a:t>
            </a:r>
            <a:endParaRPr dirty="0"/>
          </a:p>
        </p:txBody>
      </p:sp>
      <p:sp>
        <p:nvSpPr>
          <p:cNvPr id="726" name="Google Shape;726;p52">
            <a:extLst>
              <a:ext uri="{FF2B5EF4-FFF2-40B4-BE49-F238E27FC236}">
                <a16:creationId xmlns:a16="http://schemas.microsoft.com/office/drawing/2014/main" id="{AB438442-2314-B84C-00EA-1E8BCCD404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7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040546C-E306-4719-98CF-D1C4007443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05"/>
          <a:stretch>
            <a:fillRect/>
          </a:stretch>
        </p:blipFill>
        <p:spPr>
          <a:xfrm>
            <a:off x="1258229" y="1024695"/>
            <a:ext cx="6627541" cy="336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47212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421</Words>
  <Application>Microsoft Office PowerPoint</Application>
  <PresentationFormat>如螢幕大小 (16:9)</PresentationFormat>
  <Paragraphs>63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7" baseType="lpstr">
      <vt:lpstr>Nunito Light</vt:lpstr>
      <vt:lpstr>Bebas Neue</vt:lpstr>
      <vt:lpstr>DM Sans</vt:lpstr>
      <vt:lpstr>Wingdings</vt:lpstr>
      <vt:lpstr>Quicksand</vt:lpstr>
      <vt:lpstr>Mulish</vt:lpstr>
      <vt:lpstr>Nunito</vt:lpstr>
      <vt:lpstr>Arial</vt:lpstr>
      <vt:lpstr>Elegant Bachelor Thesis by Slidesgo</vt:lpstr>
      <vt:lpstr>AI 論文閱讀 輔助系統</vt:lpstr>
      <vt:lpstr>規格目的</vt:lpstr>
      <vt:lpstr>規格範圍</vt:lpstr>
      <vt:lpstr>系統架構</vt:lpstr>
      <vt:lpstr>軟/硬體建構項目需求概述和環境</vt:lpstr>
      <vt:lpstr>一般限制</vt:lpstr>
      <vt:lpstr>介面展示</vt:lpstr>
      <vt:lpstr>介面展示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劉曉帆</cp:lastModifiedBy>
  <cp:revision>10</cp:revision>
  <dcterms:modified xsi:type="dcterms:W3CDTF">2026-04-20T03:56:31Z</dcterms:modified>
</cp:coreProperties>
</file>