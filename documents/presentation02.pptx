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59" r:id="rId3"/>
    <p:sldId id="258" r:id="rId4"/>
    <p:sldId id="257" r:id="rId5"/>
    <p:sldId id="314" r:id="rId6"/>
    <p:sldId id="264" r:id="rId7"/>
    <p:sldId id="316" r:id="rId8"/>
    <p:sldId id="261" r:id="rId9"/>
  </p:sldIdLst>
  <p:sldSz cx="9144000" cy="5143500" type="screen16x9"/>
  <p:notesSz cx="6858000" cy="9144000"/>
  <p:embeddedFontLst>
    <p:embeddedFont>
      <p:font typeface="Mulish" panose="02020500000000000000" charset="-120"/>
      <p:regular r:id="rId11"/>
      <p:bold r:id="rId12"/>
      <p:italic r:id="rId13"/>
      <p:boldItalic r:id="rId14"/>
    </p:embeddedFont>
    <p:embeddedFont>
      <p:font typeface="Albert Sans" panose="02020500000000000000" charset="0"/>
      <p:regular r:id="rId15"/>
      <p:bold r:id="rId16"/>
      <p:italic r:id="rId17"/>
      <p:boldItalic r:id="rId18"/>
    </p:embeddedFont>
    <p:embeddedFont>
      <p:font typeface="Alexandria Medium" panose="02020500000000000000" charset="-78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96EC87-439B-46FB-A4B5-BDECCC5816D4}">
  <a:tblStyle styleId="{8696EC87-439B-46FB-A4B5-BDECCC5816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29BA15-61EE-46D7-9370-C813FC0EB9D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089" autoAdjust="0"/>
  </p:normalViewPr>
  <p:slideViewPr>
    <p:cSldViewPr snapToGrid="0">
      <p:cViewPr varScale="1">
        <p:scale>
          <a:sx n="68" d="100"/>
          <a:sy n="68" d="100"/>
        </p:scale>
        <p:origin x="18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703cb3a7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703cb3a7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這一頁是本系統的軟硬體建構項目架構。使用者會透過瀏覽器進入學校 </a:t>
            </a:r>
            <a:r>
              <a:rPr lang="en-US" altLang="zh-TW" dirty="0"/>
              <a:t>VM </a:t>
            </a:r>
            <a:r>
              <a:rPr lang="zh-TW" altLang="en-US" dirty="0"/>
              <a:t>對外提供的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/workspace7/</a:t>
            </a:r>
            <a:r>
              <a:rPr lang="zh-TW" altLang="en-US" dirty="0"/>
              <a:t> 網址，請求會先進到 </a:t>
            </a:r>
            <a:r>
              <a:rPr lang="en-US" altLang="zh-TW" dirty="0"/>
              <a:t>Apache</a:t>
            </a:r>
            <a:r>
              <a:rPr lang="zh-TW" altLang="en-US" dirty="0"/>
              <a:t>。</a:t>
            </a:r>
            <a:r>
              <a:rPr lang="en-US" altLang="zh-TW" dirty="0"/>
              <a:t>Apache </a:t>
            </a:r>
            <a:r>
              <a:rPr lang="zh-TW" altLang="en-US" dirty="0"/>
              <a:t>在這裡主要有兩個功能：第一是提供 </a:t>
            </a:r>
            <a:r>
              <a:rPr lang="en-US" altLang="zh-TW" dirty="0"/>
              <a:t>React </a:t>
            </a:r>
            <a:r>
              <a:rPr lang="zh-TW" altLang="en-US" dirty="0"/>
              <a:t>前端靜態頁面，第二是把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/workspace7/</a:t>
            </a:r>
            <a:r>
              <a:rPr lang="en-US" altLang="zh-TW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zh-TW" altLang="en-US" dirty="0"/>
              <a:t> 的請求反向代理到後端 </a:t>
            </a:r>
            <a:r>
              <a:rPr lang="en-US" altLang="zh-TW" dirty="0" err="1"/>
              <a:t>FastAPI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前端主要負責使用者操作介面，例如論文上傳、閱讀頁面、</a:t>
            </a:r>
            <a:r>
              <a:rPr lang="en-US" altLang="zh-TW" dirty="0"/>
              <a:t>PDF </a:t>
            </a:r>
            <a:r>
              <a:rPr lang="zh-TW" altLang="en-US" dirty="0"/>
              <a:t>顯示、</a:t>
            </a:r>
            <a:r>
              <a:rPr lang="en-US" altLang="zh-TW" dirty="0"/>
              <a:t>highlight</a:t>
            </a:r>
            <a:r>
              <a:rPr lang="zh-TW" altLang="en-US" dirty="0"/>
              <a:t>、編輯、匯出與刪除。後端 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則負責 </a:t>
            </a:r>
            <a:r>
              <a:rPr lang="en-US" altLang="zh-TW" dirty="0"/>
              <a:t>API </a:t>
            </a:r>
            <a:r>
              <a:rPr lang="zh-TW" altLang="en-US" dirty="0"/>
              <a:t>處理、資料驗證、權限檢查，以及背景任務建立。系統的主要資料會儲存在 </a:t>
            </a:r>
            <a:r>
              <a:rPr lang="en-US" altLang="zh-TW" dirty="0"/>
              <a:t>PostgreSQL</a:t>
            </a:r>
            <a:r>
              <a:rPr lang="zh-TW" altLang="en-US" dirty="0"/>
              <a:t>，包含使用者、論文、段落、摘要、標註資料，以及作為任務佇列使用的 </a:t>
            </a:r>
            <a:r>
              <a:rPr lang="en-US" altLang="zh-TW" dirty="0"/>
              <a:t>tasks table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比較耗時的工作不會直接在 </a:t>
            </a:r>
            <a:r>
              <a:rPr lang="en-US" altLang="zh-TW" dirty="0"/>
              <a:t>API request </a:t>
            </a:r>
            <a:r>
              <a:rPr lang="zh-TW" altLang="en-US" dirty="0"/>
              <a:t>裡完成，而是由後端建立 </a:t>
            </a:r>
            <a:r>
              <a:rPr lang="en-US" altLang="zh-TW" dirty="0"/>
              <a:t>task</a:t>
            </a:r>
            <a:r>
              <a:rPr lang="zh-TW" altLang="en-US" dirty="0"/>
              <a:t>，再交給 </a:t>
            </a:r>
            <a:r>
              <a:rPr lang="en-US" altLang="zh-TW" dirty="0"/>
              <a:t>background workers </a:t>
            </a:r>
            <a:r>
              <a:rPr lang="zh-TW" altLang="en-US" dirty="0"/>
              <a:t>處理。</a:t>
            </a:r>
            <a:r>
              <a:rPr lang="en-US" altLang="zh-TW" dirty="0"/>
              <a:t>worker </a:t>
            </a:r>
            <a:r>
              <a:rPr lang="zh-TW" altLang="en-US" dirty="0"/>
              <a:t>會從資料庫取得 </a:t>
            </a:r>
            <a:r>
              <a:rPr lang="en-US" altLang="zh-TW" dirty="0"/>
              <a:t>queued task</a:t>
            </a:r>
            <a:r>
              <a:rPr lang="zh-TW" altLang="en-US" dirty="0"/>
              <a:t>，進行 </a:t>
            </a:r>
            <a:r>
              <a:rPr lang="en-US" altLang="zh-TW" dirty="0"/>
              <a:t>PDF </a:t>
            </a:r>
            <a:r>
              <a:rPr lang="zh-TW" altLang="en-US" dirty="0"/>
              <a:t>解析、摘要生成、中文翻譯或重新生成，必要時呼叫外部 </a:t>
            </a:r>
            <a:r>
              <a:rPr lang="en-US" altLang="zh-TW" dirty="0"/>
              <a:t>LLM API</a:t>
            </a:r>
            <a:r>
              <a:rPr lang="zh-TW" altLang="en-US" dirty="0"/>
              <a:t>，最後再把結果寫回資料庫。這樣設計可以避免使用者操作被長時間阻塞，也讓系統在處理大型 </a:t>
            </a:r>
            <a:r>
              <a:rPr lang="en-US" altLang="zh-TW" dirty="0"/>
              <a:t>PDF </a:t>
            </a:r>
            <a:r>
              <a:rPr lang="zh-TW" altLang="en-US" dirty="0"/>
              <a:t>或 </a:t>
            </a:r>
            <a:r>
              <a:rPr lang="en-US" altLang="zh-TW" dirty="0"/>
              <a:t>AI </a:t>
            </a:r>
            <a:r>
              <a:rPr lang="zh-TW" altLang="en-US" dirty="0"/>
              <a:t>任務時比較穩定。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圖中也有標出外部的 </a:t>
            </a:r>
            <a:r>
              <a:rPr lang="en-US" altLang="zh-TW" dirty="0"/>
              <a:t>School SSO </a:t>
            </a:r>
            <a:r>
              <a:rPr lang="zh-TW" altLang="en-US" dirty="0"/>
              <a:t>和 </a:t>
            </a:r>
            <a:r>
              <a:rPr lang="en-US" altLang="zh-TW" dirty="0"/>
              <a:t>Gateway API Key DB</a:t>
            </a:r>
            <a:r>
              <a:rPr lang="zh-TW" altLang="en-US" dirty="0"/>
              <a:t>。這兩個元件分別提供登入身份來源和 </a:t>
            </a:r>
            <a:r>
              <a:rPr lang="en-US" altLang="zh-TW" dirty="0"/>
              <a:t>AI </a:t>
            </a:r>
            <a:r>
              <a:rPr lang="zh-TW" altLang="en-US" dirty="0"/>
              <a:t>服務 </a:t>
            </a:r>
            <a:r>
              <a:rPr lang="en-US" altLang="zh-TW" dirty="0"/>
              <a:t>key </a:t>
            </a:r>
            <a:r>
              <a:rPr lang="zh-TW" altLang="en-US" dirty="0"/>
              <a:t>來源，但詳細流程我會在後面的作業程序與安全設計頁面再說明。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這頁主要說明系統使用到的軟硬體組件。前端部分使用 </a:t>
            </a:r>
            <a:r>
              <a:rPr lang="en-US" altLang="zh-TW" dirty="0"/>
              <a:t>React</a:t>
            </a:r>
            <a:r>
              <a:rPr lang="zh-TW" altLang="en-US" dirty="0"/>
              <a:t>、</a:t>
            </a:r>
            <a:r>
              <a:rPr lang="en-US" altLang="zh-TW" dirty="0"/>
              <a:t>Vite </a:t>
            </a:r>
            <a:r>
              <a:rPr lang="zh-TW" altLang="en-US" dirty="0"/>
              <a:t>與 </a:t>
            </a:r>
            <a:r>
              <a:rPr lang="en-US" altLang="zh-TW" dirty="0"/>
              <a:t>TypeScript</a:t>
            </a:r>
            <a:r>
              <a:rPr lang="zh-TW" altLang="en-US" dirty="0"/>
              <a:t>，負責提供論文上傳、閱讀頁面、</a:t>
            </a:r>
            <a:r>
              <a:rPr lang="en-US" altLang="zh-TW" dirty="0"/>
              <a:t>PDF </a:t>
            </a:r>
            <a:r>
              <a:rPr lang="zh-TW" altLang="en-US" dirty="0"/>
              <a:t>顯示、語言切換、重點標記、內容編輯與匯出等操作介面。後端使用 </a:t>
            </a:r>
            <a:r>
              <a:rPr lang="en-US" altLang="zh-TW" dirty="0" err="1"/>
              <a:t>FastAPI</a:t>
            </a:r>
            <a:r>
              <a:rPr lang="zh-TW" altLang="en-US" dirty="0"/>
              <a:t>，負責提供各類 </a:t>
            </a:r>
            <a:r>
              <a:rPr lang="en-US" altLang="zh-TW" dirty="0"/>
              <a:t>API</a:t>
            </a:r>
            <a:r>
              <a:rPr lang="zh-TW" altLang="en-US" dirty="0"/>
              <a:t>，包含論文資料、摘要、翻譯、段落編輯、重點標記與匯出，同時也負責資料歸屬檢查與背景任務建立。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資料庫使用 </a:t>
            </a:r>
            <a:r>
              <a:rPr lang="en-US" altLang="zh-TW" dirty="0"/>
              <a:t>PostgreSQL</a:t>
            </a:r>
            <a:r>
              <a:rPr lang="zh-TW" altLang="en-US" dirty="0"/>
              <a:t>，除了儲存使用者、論文、段落、摘要和標記資料外，也透過 </a:t>
            </a:r>
            <a:r>
              <a:rPr lang="en-US" altLang="zh-TW" dirty="0"/>
              <a:t>tasks table </a:t>
            </a:r>
            <a:r>
              <a:rPr lang="zh-TW" altLang="en-US" dirty="0"/>
              <a:t>作為背景任務 </a:t>
            </a:r>
            <a:r>
              <a:rPr lang="en-US" altLang="zh-TW" dirty="0"/>
              <a:t>queue</a:t>
            </a:r>
            <a:r>
              <a:rPr lang="zh-TW" altLang="en-US" dirty="0"/>
              <a:t>。比較耗時的工作，例如 </a:t>
            </a:r>
            <a:r>
              <a:rPr lang="en-US" altLang="zh-TW" dirty="0"/>
              <a:t>PDF </a:t>
            </a:r>
            <a:r>
              <a:rPr lang="zh-TW" altLang="en-US" dirty="0"/>
              <a:t>解析、摘要生成、中文翻譯和重新生成摘要，會交給 </a:t>
            </a:r>
            <a:r>
              <a:rPr lang="en-US" altLang="zh-TW" dirty="0" err="1"/>
              <a:t>systemd</a:t>
            </a:r>
            <a:r>
              <a:rPr lang="en-US" altLang="zh-TW" dirty="0"/>
              <a:t> </a:t>
            </a:r>
            <a:r>
              <a:rPr lang="zh-TW" altLang="en-US" dirty="0"/>
              <a:t>管理的兩個 </a:t>
            </a:r>
            <a:r>
              <a:rPr lang="en-US" altLang="zh-TW" dirty="0"/>
              <a:t>worker </a:t>
            </a:r>
            <a:r>
              <a:rPr lang="zh-TW" altLang="en-US" dirty="0"/>
              <a:t>來處理，避免 </a:t>
            </a:r>
            <a:r>
              <a:rPr lang="en-US" altLang="zh-TW" dirty="0"/>
              <a:t>API request </a:t>
            </a:r>
            <a:r>
              <a:rPr lang="zh-TW" altLang="en-US" dirty="0"/>
              <a:t>長時間卡住。</a:t>
            </a:r>
            <a:r>
              <a:rPr lang="en-US" altLang="zh-TW" dirty="0"/>
              <a:t>PDF </a:t>
            </a:r>
            <a:r>
              <a:rPr lang="zh-TW" altLang="en-US" dirty="0"/>
              <a:t>解析主要使用 </a:t>
            </a:r>
            <a:r>
              <a:rPr lang="en-US" altLang="zh-TW" dirty="0" err="1"/>
              <a:t>PyMuPDF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pymupdf4llm</a:t>
            </a:r>
            <a:r>
              <a:rPr lang="zh-TW" altLang="en-US" dirty="0"/>
              <a:t>，前端 </a:t>
            </a:r>
            <a:r>
              <a:rPr lang="en-US" altLang="zh-TW" dirty="0"/>
              <a:t>PDF </a:t>
            </a:r>
            <a:r>
              <a:rPr lang="zh-TW" altLang="en-US" dirty="0"/>
              <a:t>顯示則使用 </a:t>
            </a:r>
            <a:r>
              <a:rPr lang="en-US" altLang="zh-TW" dirty="0"/>
              <a:t>PDF.js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部署環境方面，系統目前架設在學校 </a:t>
            </a:r>
            <a:r>
              <a:rPr lang="en-US" altLang="zh-TW" dirty="0"/>
              <a:t>VM </a:t>
            </a:r>
            <a:r>
              <a:rPr lang="zh-TW" altLang="en-US" dirty="0"/>
              <a:t>上，作業系統為 </a:t>
            </a:r>
            <a:r>
              <a:rPr lang="en-US" altLang="zh-TW" dirty="0"/>
              <a:t>Ubuntu</a:t>
            </a:r>
            <a:r>
              <a:rPr lang="zh-TW" altLang="en-US" dirty="0"/>
              <a:t>，透過 </a:t>
            </a:r>
            <a:r>
              <a:rPr lang="en-US" altLang="zh-TW" dirty="0"/>
              <a:t>Apache </a:t>
            </a:r>
            <a:r>
              <a:rPr lang="zh-TW" altLang="en-US" dirty="0"/>
              <a:t>提供前端靜態頁面，並將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/workspace7/</a:t>
            </a:r>
            <a:r>
              <a:rPr lang="en-US" altLang="zh-TW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zh-TW" altLang="en-US" dirty="0"/>
              <a:t> 反向代理到 </a:t>
            </a:r>
            <a:r>
              <a:rPr lang="en-US" altLang="zh-TW" dirty="0" err="1"/>
              <a:t>FastAPI</a:t>
            </a:r>
            <a:r>
              <a:rPr lang="zh-TW" altLang="en-US" dirty="0"/>
              <a:t>。檔案與 </a:t>
            </a:r>
            <a:r>
              <a:rPr lang="en-US" altLang="zh-TW" dirty="0"/>
              <a:t>log </a:t>
            </a:r>
            <a:r>
              <a:rPr lang="zh-TW" altLang="en-US" dirty="0"/>
              <a:t>則儲存在 </a:t>
            </a:r>
            <a:r>
              <a:rPr lang="en-US" altLang="zh-TW" dirty="0"/>
              <a:t>VM </a:t>
            </a:r>
            <a:r>
              <a:rPr lang="zh-TW" altLang="en-US" dirty="0"/>
              <a:t>本機。登入與 </a:t>
            </a:r>
            <a:r>
              <a:rPr lang="en-US" altLang="zh-TW" dirty="0"/>
              <a:t>API key </a:t>
            </a:r>
            <a:r>
              <a:rPr lang="zh-TW" altLang="en-US" dirty="0"/>
              <a:t>的部分，已完成 </a:t>
            </a:r>
            <a:r>
              <a:rPr lang="en-US" altLang="zh-TW" dirty="0"/>
              <a:t>School SSO → JWT → </a:t>
            </a:r>
            <a:r>
              <a:rPr lang="zh-TW" altLang="en-US" dirty="0"/>
              <a:t>使用者資料隔離；</a:t>
            </a:r>
            <a:r>
              <a:rPr lang="en-US" altLang="zh-TW" dirty="0"/>
              <a:t>API key </a:t>
            </a:r>
            <a:r>
              <a:rPr lang="zh-TW" altLang="en-US" dirty="0"/>
              <a:t>整合為最終版設計，將由後端依 </a:t>
            </a:r>
            <a:r>
              <a:rPr lang="en-US" altLang="zh-TW" dirty="0" err="1"/>
              <a:t>user_account</a:t>
            </a:r>
            <a:r>
              <a:rPr lang="en-US" altLang="zh-TW" dirty="0"/>
              <a:t> </a:t>
            </a:r>
            <a:r>
              <a:rPr lang="zh-TW" altLang="en-US" dirty="0"/>
              <a:t>查詢 </a:t>
            </a:r>
            <a:r>
              <a:rPr lang="en-US" altLang="zh-TW" dirty="0"/>
              <a:t>Gateway DB</a:t>
            </a:r>
            <a:r>
              <a:rPr lang="zh-TW" altLang="en-US" dirty="0"/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703cb3a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5703cb3a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這頁主要說明系統的介面設計。系統主要分成首頁和閱讀頁兩個操作畫面。首頁負責論文上傳與紀錄管理，使用者可以上傳 </a:t>
            </a:r>
            <a:r>
              <a:rPr lang="en-US" altLang="zh-TW" dirty="0"/>
              <a:t>PDF</a:t>
            </a:r>
            <a:r>
              <a:rPr lang="zh-TW" altLang="en-US" dirty="0"/>
              <a:t>，並查看每篇論文目前的處理狀態，例如正在處理、已完成或失敗。因為 </a:t>
            </a:r>
            <a:r>
              <a:rPr lang="en-US" altLang="zh-TW" dirty="0"/>
              <a:t>PDF </a:t>
            </a:r>
            <a:r>
              <a:rPr lang="zh-TW" altLang="en-US" dirty="0"/>
              <a:t>解析、摘要生成和翻譯都會進入背景任務，所以首頁也會透過狀態顯示讓使用者知道目前處理進度。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閱讀頁則採用左右分割設計。左側顯示 </a:t>
            </a:r>
            <a:r>
              <a:rPr lang="en-US" altLang="zh-TW" dirty="0"/>
              <a:t>AI </a:t>
            </a:r>
            <a:r>
              <a:rPr lang="zh-TW" altLang="en-US" dirty="0"/>
              <a:t>產生的全文摘要、章節摘要、段落內容、重點與中文翻譯；右側顯示原始 </a:t>
            </a:r>
            <a:r>
              <a:rPr lang="en-US" altLang="zh-TW" dirty="0"/>
              <a:t>PDF</a:t>
            </a:r>
            <a:r>
              <a:rPr lang="zh-TW" altLang="en-US" dirty="0"/>
              <a:t>，讓使用者可以一邊閱讀整理後的內容，一邊對照原文。上方功能列提供語言切換、重新生成摘要、重點標記、</a:t>
            </a:r>
            <a:r>
              <a:rPr lang="en-US" altLang="zh-TW" dirty="0"/>
              <a:t>PDF </a:t>
            </a:r>
            <a:r>
              <a:rPr lang="zh-TW" altLang="en-US" dirty="0"/>
              <a:t>顯示控制、下載匯出與刪除等功能。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FD7DF1F4-0ED0-E687-267F-239EFAFC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12F4DAAC-6D31-0664-7194-24C252A411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A5D8DC96-C7CD-2BEC-B182-AFBC7AEAF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這一頁是系統的作業程序設計。使用者進入 </a:t>
            </a:r>
            <a:r>
              <a:rPr lang="en-US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/workspace7/</a:t>
            </a:r>
            <a:r>
              <a:rPr lang="en-US" altLang="zh-TW" dirty="0"/>
              <a:t> </a:t>
            </a:r>
            <a:r>
              <a:rPr lang="zh-TW" altLang="en-US" dirty="0"/>
              <a:t>後，系統會先確認登入身份。正式版本使用學校 </a:t>
            </a:r>
            <a:r>
              <a:rPr lang="en-US" altLang="zh-TW" dirty="0"/>
              <a:t>SSO</a:t>
            </a:r>
            <a:r>
              <a:rPr lang="zh-TW" altLang="en-US" dirty="0"/>
              <a:t>，也就是學校統一登入機制，系統本身不保存使用者密碼，而是從 </a:t>
            </a:r>
            <a:r>
              <a:rPr lang="en-US" altLang="zh-TW" dirty="0"/>
              <a:t>SSO </a:t>
            </a:r>
            <a:r>
              <a:rPr lang="zh-TW" altLang="en-US" dirty="0"/>
              <a:t>取得 </a:t>
            </a:r>
            <a:r>
              <a:rPr lang="en-US" altLang="zh-TW" dirty="0"/>
              <a:t>user account</a:t>
            </a:r>
            <a:r>
              <a:rPr lang="zh-TW" altLang="en-US" dirty="0"/>
              <a:t>、</a:t>
            </a:r>
            <a:r>
              <a:rPr lang="en-US" altLang="zh-TW" dirty="0"/>
              <a:t>user </a:t>
            </a:r>
            <a:r>
              <a:rPr lang="en-US" altLang="zh-TW" dirty="0" err="1"/>
              <a:t>oid</a:t>
            </a:r>
            <a:r>
              <a:rPr lang="en-US" altLang="zh-TW" dirty="0"/>
              <a:t> </a:t>
            </a:r>
            <a:r>
              <a:rPr lang="zh-TW" altLang="en-US" dirty="0"/>
              <a:t>和姓名，再由 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建立或取得系統內的 </a:t>
            </a:r>
            <a:r>
              <a:rPr lang="en-US" altLang="zh-TW" dirty="0"/>
              <a:t>User</a:t>
            </a:r>
            <a:r>
              <a:rPr lang="zh-TW" altLang="en-US" dirty="0"/>
              <a:t>，並回傳 </a:t>
            </a:r>
            <a:r>
              <a:rPr lang="en-US" altLang="zh-TW" dirty="0"/>
              <a:t>JWT token</a:t>
            </a:r>
            <a:r>
              <a:rPr lang="zh-TW" altLang="en-US" dirty="0"/>
              <a:t>。之後前端呼叫 </a:t>
            </a:r>
            <a:r>
              <a:rPr lang="en-US" altLang="zh-TW" dirty="0"/>
              <a:t>API </a:t>
            </a:r>
            <a:r>
              <a:rPr lang="zh-TW" altLang="en-US" dirty="0"/>
              <a:t>時，都會帶這個 </a:t>
            </a:r>
            <a:r>
              <a:rPr lang="en-US" altLang="zh-TW" dirty="0"/>
              <a:t>token </a:t>
            </a:r>
            <a:r>
              <a:rPr lang="zh-TW" altLang="en-US" dirty="0"/>
              <a:t>進行身份驗證與資料隔離。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完成登入後，使用者可以在首頁上傳 </a:t>
            </a:r>
            <a:r>
              <a:rPr lang="en-US" altLang="zh-TW" dirty="0"/>
              <a:t>PDF</a:t>
            </a:r>
            <a:r>
              <a:rPr lang="zh-TW" altLang="en-US" dirty="0"/>
              <a:t>。後端會先檢查檔案類型、大小和使用者限制，通過後儲存 </a:t>
            </a:r>
            <a:r>
              <a:rPr lang="en-US" altLang="zh-TW" dirty="0"/>
              <a:t>PDF</a:t>
            </a:r>
            <a:r>
              <a:rPr lang="zh-TW" altLang="en-US" dirty="0"/>
              <a:t>、建立 </a:t>
            </a:r>
            <a:r>
              <a:rPr lang="en-US" altLang="zh-TW" dirty="0"/>
              <a:t>paper record</a:t>
            </a:r>
            <a:r>
              <a:rPr lang="zh-TW" altLang="en-US" dirty="0"/>
              <a:t>，並建立 </a:t>
            </a:r>
            <a:r>
              <a:rPr lang="en-US" altLang="zh-TW" dirty="0" err="1"/>
              <a:t>parse_overview</a:t>
            </a:r>
            <a:r>
              <a:rPr lang="en-US" altLang="zh-TW" dirty="0"/>
              <a:t> task</a:t>
            </a:r>
            <a:r>
              <a:rPr lang="zh-TW" altLang="en-US" dirty="0"/>
              <a:t>。這時 </a:t>
            </a:r>
            <a:r>
              <a:rPr lang="en-US" altLang="zh-TW" dirty="0"/>
              <a:t>API </a:t>
            </a:r>
            <a:r>
              <a:rPr lang="zh-TW" altLang="en-US" dirty="0"/>
              <a:t>會先回傳 </a:t>
            </a:r>
            <a:r>
              <a:rPr lang="en-US" altLang="zh-TW" dirty="0"/>
              <a:t>queued</a:t>
            </a:r>
            <a:r>
              <a:rPr lang="zh-TW" altLang="en-US" dirty="0"/>
              <a:t>，讓前端顯示處理中，而不是讓使用者一直等待。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真正耗時的工作會交給 </a:t>
            </a:r>
            <a:r>
              <a:rPr lang="en-US" altLang="zh-TW" dirty="0"/>
              <a:t>background worker</a:t>
            </a:r>
            <a:r>
              <a:rPr lang="zh-TW" altLang="en-US" dirty="0"/>
              <a:t>。</a:t>
            </a:r>
            <a:r>
              <a:rPr lang="en-US" altLang="zh-TW" dirty="0"/>
              <a:t>worker </a:t>
            </a:r>
            <a:r>
              <a:rPr lang="zh-TW" altLang="en-US" dirty="0"/>
              <a:t>會從 </a:t>
            </a:r>
            <a:r>
              <a:rPr lang="en-US" altLang="zh-TW" dirty="0"/>
              <a:t>tasks table </a:t>
            </a:r>
            <a:r>
              <a:rPr lang="zh-TW" altLang="en-US" dirty="0"/>
              <a:t>取得任務，進行 </a:t>
            </a:r>
            <a:r>
              <a:rPr lang="en-US" altLang="zh-TW" dirty="0"/>
              <a:t>PDF </a:t>
            </a:r>
            <a:r>
              <a:rPr lang="zh-TW" altLang="en-US" dirty="0"/>
              <a:t>解析、段落建立、摘要生成和中文翻譯。需要呼叫 </a:t>
            </a:r>
            <a:r>
              <a:rPr lang="en-US" altLang="zh-TW" dirty="0"/>
              <a:t>LLM </a:t>
            </a:r>
            <a:r>
              <a:rPr lang="zh-TW" altLang="en-US" dirty="0"/>
              <a:t>時，會由後端依使用者的 </a:t>
            </a:r>
            <a:r>
              <a:rPr lang="en-US" altLang="zh-TW" dirty="0" err="1"/>
              <a:t>user_account</a:t>
            </a:r>
            <a:r>
              <a:rPr lang="en-US" altLang="zh-TW" dirty="0"/>
              <a:t> </a:t>
            </a:r>
            <a:r>
              <a:rPr lang="zh-TW" altLang="en-US" dirty="0"/>
              <a:t>取得對應的 </a:t>
            </a:r>
            <a:r>
              <a:rPr lang="en-US" altLang="zh-TW" dirty="0"/>
              <a:t>API key</a:t>
            </a:r>
            <a:r>
              <a:rPr lang="zh-TW" altLang="en-US" dirty="0"/>
              <a:t>，再呼叫 </a:t>
            </a:r>
            <a:r>
              <a:rPr lang="en-US" altLang="zh-TW" dirty="0"/>
              <a:t>LLM Gateway</a:t>
            </a:r>
            <a:r>
              <a:rPr lang="zh-TW" altLang="en-US" dirty="0"/>
              <a:t>，因此 </a:t>
            </a:r>
            <a:r>
              <a:rPr lang="en-US" altLang="zh-TW" dirty="0"/>
              <a:t>API key </a:t>
            </a:r>
            <a:r>
              <a:rPr lang="zh-TW" altLang="en-US" dirty="0"/>
              <a:t>不會暴露在前端。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處理完成後，</a:t>
            </a:r>
            <a:r>
              <a:rPr lang="en-US" altLang="zh-TW" dirty="0"/>
              <a:t>worker </a:t>
            </a:r>
            <a:r>
              <a:rPr lang="zh-TW" altLang="en-US" dirty="0"/>
              <a:t>會把結果寫回資料庫，使用者就能進入 </a:t>
            </a:r>
            <a:r>
              <a:rPr lang="en-US" altLang="zh-TW" dirty="0" err="1"/>
              <a:t>ReaderPage</a:t>
            </a:r>
            <a:r>
              <a:rPr lang="en-US" altLang="zh-TW" dirty="0"/>
              <a:t> </a:t>
            </a:r>
            <a:r>
              <a:rPr lang="zh-TW" altLang="en-US" dirty="0"/>
              <a:t>進行英文、中文和 </a:t>
            </a:r>
            <a:r>
              <a:rPr lang="en-US" altLang="zh-TW" dirty="0"/>
              <a:t>PDF </a:t>
            </a:r>
            <a:r>
              <a:rPr lang="zh-TW" altLang="en-US" dirty="0"/>
              <a:t>對照閱讀。後續像 </a:t>
            </a:r>
            <a:r>
              <a:rPr lang="en-US" altLang="zh-TW" dirty="0"/>
              <a:t>highlight</a:t>
            </a:r>
            <a:r>
              <a:rPr lang="zh-TW" altLang="en-US" dirty="0"/>
              <a:t>、匯出和刪除會直接更新資料；而 </a:t>
            </a:r>
            <a:r>
              <a:rPr lang="en-US" altLang="zh-TW" dirty="0"/>
              <a:t>regenerate </a:t>
            </a:r>
            <a:r>
              <a:rPr lang="zh-TW" altLang="en-US" dirty="0"/>
              <a:t>或 </a:t>
            </a:r>
            <a:r>
              <a:rPr lang="en-US" altLang="zh-TW" dirty="0"/>
              <a:t>edit </a:t>
            </a:r>
            <a:r>
              <a:rPr lang="zh-TW" altLang="en-US" dirty="0"/>
              <a:t>這類可能需要 </a:t>
            </a:r>
            <a:r>
              <a:rPr lang="en-US" altLang="zh-TW" dirty="0"/>
              <a:t>LLM </a:t>
            </a:r>
            <a:r>
              <a:rPr lang="zh-TW" altLang="en-US" dirty="0"/>
              <a:t>的操作，設計上會逐步改成建立背景任務，由 </a:t>
            </a:r>
            <a:r>
              <a:rPr lang="en-US" altLang="zh-TW" dirty="0"/>
              <a:t>worker </a:t>
            </a:r>
            <a:r>
              <a:rPr lang="zh-TW" altLang="en-US" dirty="0"/>
              <a:t>處理，避免多使用者或多裝置操作時互相阻塞。</a:t>
            </a:r>
          </a:p>
        </p:txBody>
      </p:sp>
    </p:spTree>
    <p:extLst>
      <p:ext uri="{BB962C8B-B14F-4D97-AF65-F5344CB8AC3E}">
        <p14:creationId xmlns:p14="http://schemas.microsoft.com/office/powerpoint/2010/main" val="4280033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這一頁說明系統的輸入、核心資料與輸出設計。左側是輸入資料，主要有三類：第一是學校 </a:t>
            </a:r>
            <a:r>
              <a:rPr lang="en-US" altLang="zh-TW" dirty="0"/>
              <a:t>SSO </a:t>
            </a:r>
            <a:r>
              <a:rPr lang="zh-TW" altLang="en-US" dirty="0"/>
              <a:t>提供的登入身份，例如 </a:t>
            </a:r>
            <a:r>
              <a:rPr lang="en-US" altLang="zh-TW" dirty="0"/>
              <a:t>user account</a:t>
            </a:r>
            <a:r>
              <a:rPr lang="zh-TW" altLang="en-US" dirty="0"/>
              <a:t>、</a:t>
            </a:r>
            <a:r>
              <a:rPr lang="en-US" altLang="zh-TW" dirty="0"/>
              <a:t>user </a:t>
            </a:r>
            <a:r>
              <a:rPr lang="en-US" altLang="zh-TW" dirty="0" err="1"/>
              <a:t>oid</a:t>
            </a:r>
            <a:r>
              <a:rPr lang="en-US" altLang="zh-TW" dirty="0"/>
              <a:t> </a:t>
            </a:r>
            <a:r>
              <a:rPr lang="zh-TW" altLang="en-US" dirty="0"/>
              <a:t>和姓名；第二是使用者上傳的 </a:t>
            </a:r>
            <a:r>
              <a:rPr lang="en-US" altLang="zh-TW" dirty="0"/>
              <a:t>PDF </a:t>
            </a:r>
            <a:r>
              <a:rPr lang="zh-TW" altLang="en-US" dirty="0"/>
              <a:t>論文；第三是使用者在閱讀頁進行的操作，例如 </a:t>
            </a:r>
            <a:r>
              <a:rPr lang="en-US" altLang="zh-TW" dirty="0"/>
              <a:t>highlight</a:t>
            </a:r>
            <a:r>
              <a:rPr lang="zh-TW" altLang="en-US" dirty="0"/>
              <a:t>、</a:t>
            </a:r>
            <a:r>
              <a:rPr lang="en-US" altLang="zh-TW" dirty="0"/>
              <a:t>edit</a:t>
            </a:r>
            <a:r>
              <a:rPr lang="zh-TW" altLang="en-US" dirty="0"/>
              <a:t>、</a:t>
            </a:r>
            <a:r>
              <a:rPr lang="en-US" altLang="zh-TW" dirty="0"/>
              <a:t>regenerate</a:t>
            </a:r>
            <a:r>
              <a:rPr lang="zh-TW" altLang="en-US" dirty="0"/>
              <a:t>、</a:t>
            </a:r>
            <a:r>
              <a:rPr lang="en-US" altLang="zh-TW" dirty="0"/>
              <a:t>export </a:t>
            </a:r>
            <a:r>
              <a:rPr lang="zh-TW" altLang="en-US" dirty="0"/>
              <a:t>和 </a:t>
            </a:r>
            <a:r>
              <a:rPr lang="en-US" altLang="zh-TW" dirty="0"/>
              <a:t>delete</a:t>
            </a:r>
            <a:r>
              <a:rPr lang="zh-TW" altLang="en-US" dirty="0"/>
              <a:t>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中間是系統的核心資料。</a:t>
            </a:r>
            <a:r>
              <a:rPr lang="en-US" altLang="zh-TW" dirty="0"/>
              <a:t>User </a:t>
            </a:r>
            <a:r>
              <a:rPr lang="zh-TW" altLang="en-US" dirty="0"/>
              <a:t>用來表示登入使用者，也是資料歸屬的基礎。每個 </a:t>
            </a:r>
            <a:r>
              <a:rPr lang="en-US" altLang="zh-TW" dirty="0"/>
              <a:t>User </a:t>
            </a:r>
            <a:r>
              <a:rPr lang="zh-TW" altLang="en-US" dirty="0"/>
              <a:t>可以擁有多篇 </a:t>
            </a:r>
            <a:r>
              <a:rPr lang="en-US" altLang="zh-TW" dirty="0"/>
              <a:t>Paper</a:t>
            </a:r>
            <a:r>
              <a:rPr lang="zh-TW" altLang="en-US" dirty="0"/>
              <a:t>，而 </a:t>
            </a:r>
            <a:r>
              <a:rPr lang="en-US" altLang="zh-TW" dirty="0"/>
              <a:t>Paper </a:t>
            </a:r>
            <a:r>
              <a:rPr lang="zh-TW" altLang="en-US" dirty="0"/>
              <a:t>是整個系統的主資料。每篇 </a:t>
            </a:r>
            <a:r>
              <a:rPr lang="en-US" altLang="zh-TW" dirty="0"/>
              <a:t>Paper </a:t>
            </a:r>
            <a:r>
              <a:rPr lang="zh-TW" altLang="en-US" dirty="0"/>
              <a:t>會延伸出 </a:t>
            </a:r>
            <a:r>
              <a:rPr lang="en-US" altLang="zh-TW" dirty="0"/>
              <a:t>Paragraph</a:t>
            </a:r>
            <a:r>
              <a:rPr lang="zh-TW" altLang="en-US" dirty="0"/>
              <a:t>、</a:t>
            </a:r>
            <a:r>
              <a:rPr lang="en-US" altLang="zh-TW" dirty="0"/>
              <a:t>Overview</a:t>
            </a:r>
            <a:r>
              <a:rPr lang="zh-TW" altLang="en-US" dirty="0"/>
              <a:t>、</a:t>
            </a:r>
            <a:r>
              <a:rPr lang="en-US" altLang="zh-TW" dirty="0"/>
              <a:t>Highlight </a:t>
            </a:r>
            <a:r>
              <a:rPr lang="zh-TW" altLang="en-US" dirty="0"/>
              <a:t>和 </a:t>
            </a:r>
            <a:r>
              <a:rPr lang="en-US" altLang="zh-TW" dirty="0"/>
              <a:t>Task</a:t>
            </a:r>
            <a:r>
              <a:rPr lang="zh-TW" altLang="en-US" dirty="0"/>
              <a:t>。</a:t>
            </a:r>
            <a:r>
              <a:rPr lang="en-US" altLang="zh-TW" dirty="0"/>
              <a:t>Paragraph </a:t>
            </a:r>
            <a:r>
              <a:rPr lang="zh-TW" altLang="en-US" dirty="0"/>
              <a:t>儲存段落原文、段落摘要、重點和中文翻譯；</a:t>
            </a:r>
            <a:r>
              <a:rPr lang="en-US" altLang="zh-TW" dirty="0"/>
              <a:t>Overview </a:t>
            </a:r>
            <a:r>
              <a:rPr lang="zh-TW" altLang="en-US" dirty="0"/>
              <a:t>儲存全文摘要與章節摘要；</a:t>
            </a:r>
            <a:r>
              <a:rPr lang="en-US" altLang="zh-TW" dirty="0"/>
              <a:t>Highlight </a:t>
            </a:r>
            <a:r>
              <a:rPr lang="zh-TW" altLang="en-US" dirty="0"/>
              <a:t>儲存文字或 </a:t>
            </a:r>
            <a:r>
              <a:rPr lang="en-US" altLang="zh-TW" dirty="0"/>
              <a:t>PDF </a:t>
            </a:r>
            <a:r>
              <a:rPr lang="zh-TW" altLang="en-US" dirty="0"/>
              <a:t>標註；</a:t>
            </a:r>
            <a:r>
              <a:rPr lang="en-US" altLang="zh-TW" dirty="0"/>
              <a:t>Task </a:t>
            </a:r>
            <a:r>
              <a:rPr lang="zh-TW" altLang="en-US" dirty="0"/>
              <a:t>則記錄 </a:t>
            </a:r>
            <a:r>
              <a:rPr lang="en-US" altLang="zh-TW" dirty="0"/>
              <a:t>PDF </a:t>
            </a:r>
            <a:r>
              <a:rPr lang="zh-TW" altLang="en-US" dirty="0"/>
              <a:t>解析、摘要生成、翻譯或重新生成等背景任務的狀態與錯誤訊息。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右側是輸出結果。系統最後會產生 </a:t>
            </a:r>
            <a:r>
              <a:rPr lang="en-US" altLang="zh-TW" dirty="0" err="1"/>
              <a:t>ReaderPage</a:t>
            </a:r>
            <a:r>
              <a:rPr lang="en-US" altLang="zh-TW" dirty="0"/>
              <a:t> </a:t>
            </a:r>
            <a:r>
              <a:rPr lang="zh-TW" altLang="en-US" dirty="0"/>
              <a:t>的英文、中文與 </a:t>
            </a:r>
            <a:r>
              <a:rPr lang="en-US" altLang="zh-TW" dirty="0"/>
              <a:t>PDF </a:t>
            </a:r>
            <a:r>
              <a:rPr lang="zh-TW" altLang="en-US" dirty="0"/>
              <a:t>對照閱讀畫面，也會產生 </a:t>
            </a:r>
            <a:r>
              <a:rPr lang="en-US" altLang="zh-TW" dirty="0"/>
              <a:t>AI </a:t>
            </a:r>
            <a:r>
              <a:rPr lang="zh-TW" altLang="en-US" dirty="0"/>
              <a:t>摘要、段落重點、中文翻譯，以及可下載的 </a:t>
            </a:r>
            <a:r>
              <a:rPr lang="en-US" altLang="zh-TW" dirty="0"/>
              <a:t>PDF</a:t>
            </a:r>
            <a:r>
              <a:rPr lang="zh-TW" altLang="en-US" dirty="0"/>
              <a:t>、摘要和標註資料。這樣的設計讓輸入、資料儲存和輸出結果可以清楚對應，也讓後續的資料隔離和背景任務管理比較容易維護。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1816008E-6437-9AB8-CDA5-A1ACC538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572bee519d_0_4:notes">
            <a:extLst>
              <a:ext uri="{FF2B5EF4-FFF2-40B4-BE49-F238E27FC236}">
                <a16:creationId xmlns:a16="http://schemas.microsoft.com/office/drawing/2014/main" id="{5DC8FE29-5086-5364-810E-A98CDD685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572bee519d_0_4:notes">
            <a:extLst>
              <a:ext uri="{FF2B5EF4-FFF2-40B4-BE49-F238E27FC236}">
                <a16:creationId xmlns:a16="http://schemas.microsoft.com/office/drawing/2014/main" id="{4DA09857-4CA4-5BC8-0A9F-1355A78423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這一頁說明系統在安全、防錯誤和恢復方面的設計。首先是使用者與權限保護。正式版本使用 </a:t>
            </a:r>
            <a:r>
              <a:rPr lang="en-US" altLang="zh-TW" dirty="0"/>
              <a:t>School SSO</a:t>
            </a:r>
            <a:r>
              <a:rPr lang="zh-TW" altLang="en-US" dirty="0"/>
              <a:t>，也就是學校提供的統一登入機制。這樣系統本身不需要保存使用者密碼，而是交由學校登入系統驗證身份。登入成功後，</a:t>
            </a:r>
            <a:r>
              <a:rPr lang="en-US" altLang="zh-TW" dirty="0"/>
              <a:t>SSO </a:t>
            </a:r>
            <a:r>
              <a:rPr lang="zh-TW" altLang="en-US" dirty="0"/>
              <a:t>會回傳使用者帳號、</a:t>
            </a:r>
            <a:r>
              <a:rPr lang="en-US" altLang="zh-TW" dirty="0"/>
              <a:t>user </a:t>
            </a:r>
            <a:r>
              <a:rPr lang="en-US" altLang="zh-TW" dirty="0" err="1"/>
              <a:t>oid</a:t>
            </a:r>
            <a:r>
              <a:rPr lang="en-US" altLang="zh-TW" dirty="0"/>
              <a:t> </a:t>
            </a:r>
            <a:r>
              <a:rPr lang="zh-TW" altLang="en-US" dirty="0"/>
              <a:t>和姓名等資訊，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再根據這些資料建立或取得系統內的 </a:t>
            </a:r>
            <a:r>
              <a:rPr lang="en-US" altLang="zh-TW" dirty="0"/>
              <a:t>User</a:t>
            </a:r>
            <a:r>
              <a:rPr lang="zh-TW" altLang="en-US" dirty="0"/>
              <a:t>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接著，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會發行 </a:t>
            </a:r>
            <a:r>
              <a:rPr lang="en-US" altLang="zh-TW" dirty="0"/>
              <a:t>JWT token </a:t>
            </a:r>
            <a:r>
              <a:rPr lang="zh-TW" altLang="en-US" dirty="0"/>
              <a:t>給前端。前端之後呼叫 </a:t>
            </a:r>
            <a:r>
              <a:rPr lang="en-US" altLang="zh-TW" dirty="0"/>
              <a:t>papers</a:t>
            </a:r>
            <a:r>
              <a:rPr lang="zh-TW" altLang="en-US" dirty="0"/>
              <a:t>、</a:t>
            </a:r>
            <a:r>
              <a:rPr lang="en-US" altLang="zh-TW" dirty="0"/>
              <a:t>paragraphs</a:t>
            </a:r>
            <a:r>
              <a:rPr lang="zh-TW" altLang="en-US" dirty="0"/>
              <a:t>、</a:t>
            </a:r>
            <a:r>
              <a:rPr lang="en-US" altLang="zh-TW" dirty="0"/>
              <a:t>highlights</a:t>
            </a:r>
            <a:r>
              <a:rPr lang="zh-TW" altLang="en-US" dirty="0"/>
              <a:t>、</a:t>
            </a:r>
            <a:r>
              <a:rPr lang="en-US" altLang="zh-TW" dirty="0"/>
              <a:t>export </a:t>
            </a:r>
            <a:r>
              <a:rPr lang="zh-TW" altLang="en-US" dirty="0"/>
              <a:t>或 </a:t>
            </a:r>
            <a:r>
              <a:rPr lang="en-US" altLang="zh-TW" dirty="0"/>
              <a:t>delete </a:t>
            </a:r>
            <a:r>
              <a:rPr lang="zh-TW" altLang="en-US" dirty="0"/>
              <a:t>等 </a:t>
            </a:r>
            <a:r>
              <a:rPr lang="en-US" altLang="zh-TW" dirty="0"/>
              <a:t>API </a:t>
            </a:r>
            <a:r>
              <a:rPr lang="zh-TW" altLang="en-US" dirty="0"/>
              <a:t>時，都會在 </a:t>
            </a:r>
            <a:r>
              <a:rPr lang="en-US" altLang="zh-TW" dirty="0"/>
              <a:t>request header </a:t>
            </a:r>
            <a:r>
              <a:rPr lang="zh-TW" altLang="en-US" dirty="0"/>
              <a:t>裡帶上 </a:t>
            </a:r>
            <a:r>
              <a:rPr lang="en-US" altLang="zh-TW" dirty="0"/>
              <a:t>Authorization token</a:t>
            </a:r>
            <a:r>
              <a:rPr lang="zh-TW" altLang="en-US" dirty="0"/>
              <a:t>。後端收到 </a:t>
            </a:r>
            <a:r>
              <a:rPr lang="en-US" altLang="zh-TW" dirty="0"/>
              <a:t>request </a:t>
            </a:r>
            <a:r>
              <a:rPr lang="zh-TW" altLang="en-US" dirty="0"/>
              <a:t>後，會先驗證 </a:t>
            </a:r>
            <a:r>
              <a:rPr lang="en-US" altLang="zh-TW" dirty="0"/>
              <a:t>token</a:t>
            </a:r>
            <a:r>
              <a:rPr lang="zh-TW" altLang="en-US" dirty="0"/>
              <a:t>，確認目前使用者是誰，再進一步檢查 </a:t>
            </a:r>
            <a:r>
              <a:rPr lang="en-US" altLang="zh-TW" dirty="0"/>
              <a:t>paper ownership</a:t>
            </a:r>
            <a:r>
              <a:rPr lang="zh-TW" altLang="en-US" dirty="0"/>
              <a:t>，也就是確認這份 </a:t>
            </a:r>
            <a:r>
              <a:rPr lang="en-US" altLang="zh-TW" dirty="0"/>
              <a:t>paper </a:t>
            </a:r>
            <a:r>
              <a:rPr lang="zh-TW" altLang="en-US" dirty="0"/>
              <a:t>是否真的屬於目前使用者。這樣可以避免使用者透過網址或 </a:t>
            </a:r>
            <a:r>
              <a:rPr lang="en-US" altLang="zh-TW" dirty="0"/>
              <a:t>API </a:t>
            </a:r>
            <a:r>
              <a:rPr lang="zh-TW" altLang="en-US" dirty="0"/>
              <a:t>讀取、修改或刪除別人的論文。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API Key </a:t>
            </a:r>
            <a:r>
              <a:rPr lang="zh-TW" altLang="en-US" dirty="0"/>
              <a:t>的部分也採用類似的安全設計。前端不會保存或取得學生的 </a:t>
            </a:r>
            <a:r>
              <a:rPr lang="en-US" altLang="zh-TW" dirty="0"/>
              <a:t>API key</a:t>
            </a:r>
            <a:r>
              <a:rPr lang="zh-TW" altLang="en-US" dirty="0"/>
              <a:t>，而是由後端依照 </a:t>
            </a:r>
            <a:r>
              <a:rPr lang="en-US" altLang="zh-TW" dirty="0" err="1"/>
              <a:t>user_account</a:t>
            </a:r>
            <a:r>
              <a:rPr lang="en-US" altLang="zh-TW" dirty="0"/>
              <a:t> </a:t>
            </a:r>
            <a:r>
              <a:rPr lang="zh-TW" altLang="en-US" dirty="0"/>
              <a:t>到 </a:t>
            </a:r>
            <a:r>
              <a:rPr lang="en-US" altLang="zh-TW" dirty="0"/>
              <a:t>Gateway </a:t>
            </a:r>
            <a:r>
              <a:rPr lang="zh-TW" altLang="en-US" dirty="0"/>
              <a:t>資料庫查詢，再用於摘要、翻譯或重新生成等 </a:t>
            </a:r>
            <a:r>
              <a:rPr lang="en-US" altLang="zh-TW" dirty="0"/>
              <a:t>LLM </a:t>
            </a:r>
            <a:r>
              <a:rPr lang="zh-TW" altLang="en-US" dirty="0"/>
              <a:t>任務。這樣可以避免 </a:t>
            </a:r>
            <a:r>
              <a:rPr lang="en-US" altLang="zh-TW" dirty="0"/>
              <a:t>key </a:t>
            </a:r>
            <a:r>
              <a:rPr lang="zh-TW" altLang="en-US" dirty="0"/>
              <a:t>暴露在瀏覽器端，也比較符合多使用者系統的安全需求。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除了權限保護外，系統也有限制上傳檔案類型、檔案大小、</a:t>
            </a:r>
            <a:r>
              <a:rPr lang="en-US" altLang="zh-TW" dirty="0"/>
              <a:t>paper </a:t>
            </a:r>
            <a:r>
              <a:rPr lang="zh-TW" altLang="en-US" dirty="0"/>
              <a:t>數量與同時處理中的重工作數量。背景任務則使用 </a:t>
            </a:r>
            <a:r>
              <a:rPr lang="en-US" altLang="zh-TW" dirty="0"/>
              <a:t>tasks table</a:t>
            </a:r>
            <a:r>
              <a:rPr lang="zh-TW" altLang="en-US" dirty="0"/>
              <a:t>、</a:t>
            </a:r>
            <a:r>
              <a:rPr lang="en-US" altLang="zh-TW" dirty="0"/>
              <a:t>worker heartbeat</a:t>
            </a:r>
            <a:r>
              <a:rPr lang="zh-TW" altLang="en-US" dirty="0"/>
              <a:t>、</a:t>
            </a:r>
            <a:r>
              <a:rPr lang="en-US" altLang="zh-TW" dirty="0"/>
              <a:t>stale reclaim </a:t>
            </a:r>
            <a:r>
              <a:rPr lang="zh-TW" altLang="en-US" dirty="0"/>
              <a:t>和 </a:t>
            </a:r>
            <a:r>
              <a:rPr lang="en-US" altLang="zh-TW" dirty="0"/>
              <a:t>failed </a:t>
            </a:r>
            <a:r>
              <a:rPr lang="zh-TW" altLang="en-US" dirty="0"/>
              <a:t>狀態來處理 </a:t>
            </a:r>
            <a:r>
              <a:rPr lang="en-US" altLang="zh-TW" dirty="0"/>
              <a:t>worker </a:t>
            </a:r>
            <a:r>
              <a:rPr lang="zh-TW" altLang="en-US" dirty="0"/>
              <a:t>中斷或任務卡住的情況。操作衝突方面，像 </a:t>
            </a:r>
            <a:r>
              <a:rPr lang="en-US" altLang="zh-TW" dirty="0"/>
              <a:t>regenerate </a:t>
            </a:r>
            <a:r>
              <a:rPr lang="zh-TW" altLang="en-US" dirty="0"/>
              <a:t>失敗時不會覆蓋原本摘要，多設備刪除後 </a:t>
            </a:r>
            <a:r>
              <a:rPr lang="en-US" altLang="zh-TW" dirty="0" err="1"/>
              <a:t>ReaderPage</a:t>
            </a:r>
            <a:r>
              <a:rPr lang="en-US" altLang="zh-TW" dirty="0"/>
              <a:t> </a:t>
            </a:r>
            <a:r>
              <a:rPr lang="zh-TW" altLang="en-US" dirty="0"/>
              <a:t>也會自動返回，避免使用者繼續操作已經不存在的資料。</a:t>
            </a:r>
          </a:p>
        </p:txBody>
      </p:sp>
    </p:spTree>
    <p:extLst>
      <p:ext uri="{BB962C8B-B14F-4D97-AF65-F5344CB8AC3E}">
        <p14:creationId xmlns:p14="http://schemas.microsoft.com/office/powerpoint/2010/main" val="3512039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685abcf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685abcf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zh-TW" altLang="en-US" dirty="0"/>
              <a:t>這一頁是需求設計追溯與版本管理。左側表格整理系統需求和實際設計的對應關係。像 </a:t>
            </a:r>
            <a:r>
              <a:rPr lang="en-US" altLang="zh-TW" dirty="0"/>
              <a:t>PDF </a:t>
            </a:r>
            <a:r>
              <a:rPr lang="zh-TW" altLang="en-US" dirty="0"/>
              <a:t>上傳與閱讀，對應到 </a:t>
            </a:r>
            <a:r>
              <a:rPr lang="en-US" altLang="zh-TW" dirty="0"/>
              <a:t>Upload API</a:t>
            </a:r>
            <a:r>
              <a:rPr lang="zh-TW" altLang="en-US" dirty="0"/>
              <a:t>、</a:t>
            </a:r>
            <a:r>
              <a:rPr lang="en-US" altLang="zh-TW" dirty="0" err="1"/>
              <a:t>ReaderPage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PDF Viewer</a:t>
            </a:r>
            <a:r>
              <a:rPr lang="zh-TW" altLang="en-US" dirty="0"/>
              <a:t>；論文解析與摘要，對應 </a:t>
            </a:r>
            <a:r>
              <a:rPr lang="en-US" altLang="zh-TW" dirty="0" err="1"/>
              <a:t>parse_overview</a:t>
            </a:r>
            <a:r>
              <a:rPr lang="en-US" altLang="zh-TW" dirty="0"/>
              <a:t> task</a:t>
            </a:r>
            <a:r>
              <a:rPr lang="zh-TW" altLang="en-US" dirty="0"/>
              <a:t>、</a:t>
            </a:r>
            <a:r>
              <a:rPr lang="en-US" altLang="zh-TW" dirty="0"/>
              <a:t>PDF parser </a:t>
            </a:r>
            <a:r>
              <a:rPr lang="zh-TW" altLang="en-US" dirty="0"/>
              <a:t>和 </a:t>
            </a:r>
            <a:r>
              <a:rPr lang="en-US" altLang="zh-TW" dirty="0"/>
              <a:t>LLM </a:t>
            </a:r>
            <a:r>
              <a:rPr lang="zh-TW" altLang="en-US" dirty="0"/>
              <a:t>處理；中文翻譯則對應 </a:t>
            </a:r>
            <a:r>
              <a:rPr lang="en-US" altLang="zh-TW" dirty="0" err="1"/>
              <a:t>translate_zh</a:t>
            </a:r>
            <a:r>
              <a:rPr lang="en-US" altLang="zh-TW" dirty="0"/>
              <a:t> task</a:t>
            </a:r>
            <a:r>
              <a:rPr lang="zh-TW" altLang="en-US" dirty="0"/>
              <a:t>。使用者互動功能，例如 </a:t>
            </a:r>
            <a:r>
              <a:rPr lang="en-US" altLang="zh-TW" dirty="0"/>
              <a:t>highlight</a:t>
            </a:r>
            <a:r>
              <a:rPr lang="zh-TW" altLang="en-US" dirty="0"/>
              <a:t>、</a:t>
            </a:r>
            <a:r>
              <a:rPr lang="en-US" altLang="zh-TW" dirty="0"/>
              <a:t>edit</a:t>
            </a:r>
            <a:r>
              <a:rPr lang="zh-TW" altLang="en-US" dirty="0"/>
              <a:t>、</a:t>
            </a:r>
            <a:r>
              <a:rPr lang="en-US" altLang="zh-TW" dirty="0"/>
              <a:t>regenerate</a:t>
            </a:r>
            <a:r>
              <a:rPr lang="zh-TW" altLang="en-US" dirty="0"/>
              <a:t>、</a:t>
            </a:r>
            <a:r>
              <a:rPr lang="en-US" altLang="zh-TW" dirty="0"/>
              <a:t>export </a:t>
            </a:r>
            <a:r>
              <a:rPr lang="zh-TW" altLang="en-US" dirty="0"/>
              <a:t>和 </a:t>
            </a:r>
            <a:r>
              <a:rPr lang="en-US" altLang="zh-TW" dirty="0"/>
              <a:t>delete</a:t>
            </a:r>
            <a:r>
              <a:rPr lang="zh-TW" altLang="en-US" dirty="0"/>
              <a:t>，也都有對應的前後端 </a:t>
            </a:r>
            <a:r>
              <a:rPr lang="en-US" altLang="zh-TW" dirty="0"/>
              <a:t>API </a:t>
            </a:r>
            <a:r>
              <a:rPr lang="zh-TW" altLang="en-US" dirty="0"/>
              <a:t>與資料處理流程。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在穩定性方面，系統使用 </a:t>
            </a:r>
            <a:r>
              <a:rPr lang="en-US" altLang="zh-TW" dirty="0"/>
              <a:t>tasks table</a:t>
            </a:r>
            <a:r>
              <a:rPr lang="zh-TW" altLang="en-US" dirty="0"/>
              <a:t>、</a:t>
            </a:r>
            <a:r>
              <a:rPr lang="en-US" altLang="zh-TW" dirty="0"/>
              <a:t>worker</a:t>
            </a:r>
            <a:r>
              <a:rPr lang="zh-TW" altLang="en-US" dirty="0"/>
              <a:t>、</a:t>
            </a:r>
            <a:r>
              <a:rPr lang="en-US" altLang="zh-TW" dirty="0"/>
              <a:t>heartbeat </a:t>
            </a:r>
            <a:r>
              <a:rPr lang="zh-TW" altLang="en-US" dirty="0"/>
              <a:t>和 </a:t>
            </a:r>
            <a:r>
              <a:rPr lang="en-US" altLang="zh-TW" dirty="0"/>
              <a:t>stale reclaim </a:t>
            </a:r>
            <a:r>
              <a:rPr lang="zh-TW" altLang="en-US" dirty="0"/>
              <a:t>處理背景任務，所以 </a:t>
            </a:r>
            <a:r>
              <a:rPr lang="en-US" altLang="zh-TW" dirty="0"/>
              <a:t>PDF </a:t>
            </a:r>
            <a:r>
              <a:rPr lang="zh-TW" altLang="en-US" dirty="0"/>
              <a:t>解析、翻譯或重新生成這類耗時工作不會直接卡住 </a:t>
            </a:r>
            <a:r>
              <a:rPr lang="en-US" altLang="zh-TW" dirty="0"/>
              <a:t>API request</a:t>
            </a:r>
            <a:r>
              <a:rPr lang="zh-TW" altLang="en-US" dirty="0"/>
              <a:t>，也能在 </a:t>
            </a:r>
            <a:r>
              <a:rPr lang="en-US" altLang="zh-TW" dirty="0"/>
              <a:t>worker </a:t>
            </a:r>
            <a:r>
              <a:rPr lang="zh-TW" altLang="en-US" dirty="0"/>
              <a:t>中斷時進行恢復或標記失敗。多人使用方面，目前已完成 </a:t>
            </a:r>
            <a:r>
              <a:rPr lang="en-US" altLang="zh-TW" dirty="0"/>
              <a:t>School SSO</a:t>
            </a:r>
            <a:r>
              <a:rPr lang="zh-TW" altLang="en-US" dirty="0"/>
              <a:t>、</a:t>
            </a:r>
            <a:r>
              <a:rPr lang="en-US" altLang="zh-TW" dirty="0"/>
              <a:t>JWT</a:t>
            </a:r>
            <a:r>
              <a:rPr lang="zh-TW" altLang="en-US" dirty="0"/>
              <a:t>、</a:t>
            </a:r>
            <a:r>
              <a:rPr lang="en-US" altLang="zh-TW" dirty="0" err="1"/>
              <a:t>user_id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paper ownership </a:t>
            </a:r>
            <a:r>
              <a:rPr lang="zh-TW" altLang="en-US" dirty="0"/>
              <a:t>的資料隔離設計，使用者只能看到與操作自己的論文資料。</a:t>
            </a:r>
          </a:p>
          <a:p>
            <a:pPr marL="158750" indent="0">
              <a:buNone/>
            </a:pPr>
            <a:endParaRPr lang="zh-TW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4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104756" t="-108210" r="280063" b="47851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l="7044" t="47434" r="-48487" b="-26995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 rot="10800000" flipH="1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7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2">
            <a:alphaModFix/>
          </a:blip>
          <a:srcRect l="104756" t="-108210" r="280063" b="47851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5"/>
          </p:nvPr>
        </p:nvSpPr>
        <p:spPr>
          <a:xfrm>
            <a:off x="4648300" y="20465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6"/>
          </p:nvPr>
        </p:nvSpPr>
        <p:spPr>
          <a:xfrm>
            <a:off x="4648300" y="32990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7"/>
          </p:nvPr>
        </p:nvSpPr>
        <p:spPr>
          <a:xfrm>
            <a:off x="46483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8"/>
          </p:nvPr>
        </p:nvSpPr>
        <p:spPr>
          <a:xfrm>
            <a:off x="46483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1" r:id="rId7"/>
    <p:sldLayoutId id="2147483665" r:id="rId8"/>
    <p:sldLayoutId id="2147483668" r:id="rId9"/>
    <p:sldLayoutId id="2147483676" r:id="rId10"/>
    <p:sldLayoutId id="214748367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56354" y="1246800"/>
            <a:ext cx="7436074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altLang="zh-TW" sz="9600" dirty="0"/>
              <a:t>AI </a:t>
            </a:r>
            <a:r>
              <a:rPr lang="zh-TW" altLang="en-US" sz="9600" dirty="0"/>
              <a:t>論文閱讀</a:t>
            </a:r>
            <a:br>
              <a:rPr lang="en-US" altLang="zh-TW" sz="9600" dirty="0"/>
            </a:br>
            <a:r>
              <a:rPr lang="zh-TW" altLang="en-US" sz="9600" dirty="0"/>
              <a:t>輔助系統</a:t>
            </a:r>
            <a:endParaRPr dirty="0"/>
          </a:p>
        </p:txBody>
      </p:sp>
      <p:sp>
        <p:nvSpPr>
          <p:cNvPr id="191" name="Google Shape;191;p35"/>
          <p:cNvSpPr txBox="1">
            <a:spLocks noGrp="1"/>
          </p:cNvSpPr>
          <p:nvPr>
            <p:ph type="subTitle" idx="1"/>
          </p:nvPr>
        </p:nvSpPr>
        <p:spPr>
          <a:xfrm>
            <a:off x="2400264" y="4755300"/>
            <a:ext cx="4148254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altLang="zh-TW" sz="1000" dirty="0" err="1"/>
              <a:t>Github</a:t>
            </a:r>
            <a:r>
              <a:rPr lang="en-US" altLang="zh-TW" sz="1000" dirty="0"/>
              <a:t>: https://github.com/B1129060/AI-Assisted-Paper-Reader</a:t>
            </a:r>
            <a:endParaRPr lang="zh-TW" altLang="en-US" sz="1000" dirty="0"/>
          </a:p>
        </p:txBody>
      </p:sp>
      <p:sp>
        <p:nvSpPr>
          <p:cNvPr id="4" name="Google Shape;286;p29">
            <a:extLst>
              <a:ext uri="{FF2B5EF4-FFF2-40B4-BE49-F238E27FC236}">
                <a16:creationId xmlns:a16="http://schemas.microsoft.com/office/drawing/2014/main" id="{51ACADF1-11BC-3AA0-C3ED-0CA60DECD8F1}"/>
              </a:ext>
            </a:extLst>
          </p:cNvPr>
          <p:cNvSpPr txBox="1">
            <a:spLocks/>
          </p:cNvSpPr>
          <p:nvPr/>
        </p:nvSpPr>
        <p:spPr>
          <a:xfrm>
            <a:off x="1600650" y="4162441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6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sh"/>
              <a:buNone/>
              <a:defRPr sz="18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F"/>
              </a:buClr>
              <a:buSzPts val="1400"/>
              <a:buFont typeface="Mulish"/>
              <a:buNone/>
              <a:tabLst/>
              <a:defRPr/>
            </a:pPr>
            <a:r>
              <a:rPr lang="zh-TW" altLang="en-US" dirty="0">
                <a:latin typeface="Alexandria Medium" panose="02020500000000000000" charset="-78"/>
                <a:cs typeface="Alexandria Medium" panose="02020500000000000000" charset="-78"/>
              </a:rPr>
              <a:t>指導教授：李季青</a:t>
            </a:r>
            <a:r>
              <a:rPr lang="zh-TW" altLang="en-US" dirty="0">
                <a:latin typeface="Alexandria Medium"/>
                <a:cs typeface="Alexandria Medium"/>
              </a:rPr>
              <a:t>			</a:t>
            </a:r>
            <a:r>
              <a:rPr lang="en-US" altLang="zh-TW" dirty="0">
                <a:latin typeface="Alexandria Medium"/>
                <a:cs typeface="Alexandria Medium"/>
              </a:rPr>
              <a:t>B1129060</a:t>
            </a:r>
            <a:r>
              <a:rPr lang="zh-TW" altLang="en-US" dirty="0">
                <a:latin typeface="Alexandria Medium"/>
                <a:cs typeface="Alexandria Medium"/>
              </a:rPr>
              <a:t> 劉曉帆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0545B40-650B-FCB9-73E7-87187E002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101"/>
          <a:stretch>
            <a:fillRect/>
          </a:stretch>
        </p:blipFill>
        <p:spPr>
          <a:xfrm rot="16200000">
            <a:off x="4005322" y="4820"/>
            <a:ext cx="1126392" cy="9150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8;p37">
            <a:extLst>
              <a:ext uri="{FF2B5EF4-FFF2-40B4-BE49-F238E27FC236}">
                <a16:creationId xmlns:a16="http://schemas.microsoft.com/office/drawing/2014/main" id="{B47CCB2A-3ACA-0B72-D38D-03F437D6F6AD}"/>
              </a:ext>
            </a:extLst>
          </p:cNvPr>
          <p:cNvSpPr txBox="1">
            <a:spLocks/>
          </p:cNvSpPr>
          <p:nvPr/>
        </p:nvSpPr>
        <p:spPr>
          <a:xfrm>
            <a:off x="260195" y="171030"/>
            <a:ext cx="9144000" cy="5129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1.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軟硬體建構項目架構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67C895D-F315-F59C-658D-C25AB016E7F0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2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9C0EBA5-5DF6-5355-379C-44F4E29CA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1365"/>
            <a:ext cx="9144000" cy="128141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0CBF318-FDD7-F227-D079-89AB3BA05F9C}"/>
              </a:ext>
            </a:extLst>
          </p:cNvPr>
          <p:cNvSpPr txBox="1"/>
          <p:nvPr/>
        </p:nvSpPr>
        <p:spPr>
          <a:xfrm>
            <a:off x="260195" y="788968"/>
            <a:ext cx="67876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系統入口與部署架構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使用者透過瀏覽器進入 </a:t>
            </a:r>
            <a:r>
              <a:rPr lang="en-US" altLang="zh-TW" dirty="0"/>
              <a:t>/workspace7/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Apache </a:t>
            </a:r>
            <a:r>
              <a:rPr lang="zh-TW" altLang="en-US" dirty="0"/>
              <a:t>提供 </a:t>
            </a:r>
            <a:r>
              <a:rPr lang="en-US" altLang="zh-TW" dirty="0"/>
              <a:t>React </a:t>
            </a:r>
            <a:r>
              <a:rPr lang="zh-TW" altLang="en-US" dirty="0"/>
              <a:t>前端，並將 </a:t>
            </a:r>
            <a:r>
              <a:rPr lang="en-US" altLang="zh-TW" dirty="0"/>
              <a:t>/workspace7/</a:t>
            </a:r>
            <a:r>
              <a:rPr lang="en-US" altLang="zh-TW" dirty="0" err="1"/>
              <a:t>api</a:t>
            </a:r>
            <a:r>
              <a:rPr lang="en-US" altLang="zh-TW" dirty="0"/>
              <a:t>/ </a:t>
            </a:r>
            <a:r>
              <a:rPr lang="zh-TW" altLang="en-US" dirty="0"/>
              <a:t>轉送至 </a:t>
            </a:r>
            <a:r>
              <a:rPr lang="en-US" altLang="zh-TW" dirty="0" err="1"/>
              <a:t>FastAPI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負責 </a:t>
            </a:r>
            <a:r>
              <a:rPr lang="en-US" altLang="zh-TW" dirty="0"/>
              <a:t>API</a:t>
            </a:r>
            <a:r>
              <a:rPr lang="zh-TW" altLang="en-US" dirty="0"/>
              <a:t>、權限檢查、資料驗證與任務建立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PostgreSQL </a:t>
            </a:r>
            <a:r>
              <a:rPr lang="zh-TW" altLang="en-US" dirty="0"/>
              <a:t>儲存使用者、論文、段落、摘要、標註與 </a:t>
            </a:r>
            <a:r>
              <a:rPr lang="en-US" altLang="zh-TW" dirty="0"/>
              <a:t>tasks queue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Background Workers </a:t>
            </a:r>
            <a:r>
              <a:rPr lang="zh-TW" altLang="en-US" dirty="0"/>
              <a:t>處理 </a:t>
            </a:r>
            <a:r>
              <a:rPr lang="en-US" altLang="zh-TW" dirty="0"/>
              <a:t>PDF </a:t>
            </a:r>
            <a:r>
              <a:rPr lang="zh-TW" altLang="en-US" dirty="0"/>
              <a:t>解析、摘要生成、中文翻譯與重新生成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LLM </a:t>
            </a:r>
            <a:r>
              <a:rPr lang="zh-TW" altLang="en-US" dirty="0"/>
              <a:t>呼叫由後端統一處理，避免 </a:t>
            </a:r>
            <a:r>
              <a:rPr lang="en-US" altLang="zh-TW" dirty="0"/>
              <a:t>API key </a:t>
            </a:r>
            <a:r>
              <a:rPr lang="zh-TW" altLang="en-US" dirty="0"/>
              <a:t>暴露到前端學校 </a:t>
            </a:r>
            <a:r>
              <a:rPr lang="en-US" altLang="zh-TW" dirty="0"/>
              <a:t>SSO </a:t>
            </a:r>
            <a:r>
              <a:rPr lang="zh-TW" altLang="en-US" dirty="0"/>
              <a:t>與 </a:t>
            </a:r>
            <a:r>
              <a:rPr lang="en-US" altLang="zh-TW" dirty="0"/>
              <a:t>API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外部 </a:t>
            </a:r>
            <a:r>
              <a:rPr lang="en-US" altLang="zh-TW" dirty="0"/>
              <a:t>School SSO </a:t>
            </a:r>
            <a:r>
              <a:rPr lang="zh-TW" altLang="en-US" dirty="0"/>
              <a:t>與 </a:t>
            </a:r>
            <a:r>
              <a:rPr lang="en-US" altLang="zh-TW" dirty="0"/>
              <a:t>Gateway API Key DB </a:t>
            </a:r>
            <a:r>
              <a:rPr lang="zh-TW" altLang="en-US" dirty="0"/>
              <a:t>分別提供登入身份與 </a:t>
            </a:r>
            <a:r>
              <a:rPr lang="en-US" altLang="zh-TW" dirty="0"/>
              <a:t>LLM key </a:t>
            </a:r>
            <a:r>
              <a:rPr lang="zh-TW" altLang="en-US" dirty="0"/>
              <a:t>來源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B6B93576-A745-E644-1A0B-4A27C0217BD1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2.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軟硬體組件設計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graphicFrame>
        <p:nvGraphicFramePr>
          <p:cNvPr id="39" name="表格 38">
            <a:extLst>
              <a:ext uri="{FF2B5EF4-FFF2-40B4-BE49-F238E27FC236}">
                <a16:creationId xmlns:a16="http://schemas.microsoft.com/office/drawing/2014/main" id="{4B28A086-2088-1766-1341-9E971A14E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712490"/>
              </p:ext>
            </p:extLst>
          </p:nvPr>
        </p:nvGraphicFramePr>
        <p:xfrm>
          <a:off x="431876" y="864870"/>
          <a:ext cx="8518836" cy="2529840"/>
        </p:xfrm>
        <a:graphic>
          <a:graphicData uri="http://schemas.openxmlformats.org/drawingml/2006/table">
            <a:tbl>
              <a:tblPr/>
              <a:tblGrid>
                <a:gridCol w="1404358">
                  <a:extLst>
                    <a:ext uri="{9D8B030D-6E8A-4147-A177-3AD203B41FA5}">
                      <a16:colId xmlns:a16="http://schemas.microsoft.com/office/drawing/2014/main" val="1999894015"/>
                    </a:ext>
                  </a:extLst>
                </a:gridCol>
                <a:gridCol w="3062868">
                  <a:extLst>
                    <a:ext uri="{9D8B030D-6E8A-4147-A177-3AD203B41FA5}">
                      <a16:colId xmlns:a16="http://schemas.microsoft.com/office/drawing/2014/main" val="3381754033"/>
                    </a:ext>
                  </a:extLst>
                </a:gridCol>
                <a:gridCol w="4051610">
                  <a:extLst>
                    <a:ext uri="{9D8B030D-6E8A-4147-A177-3AD203B41FA5}">
                      <a16:colId xmlns:a16="http://schemas.microsoft.com/office/drawing/2014/main" val="856679097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000" dirty="0"/>
                        <a:t>核心軟體組件表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856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組件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技術 </a:t>
                      </a:r>
                      <a:r>
                        <a:rPr lang="en-US" altLang="zh-TW" dirty="0"/>
                        <a:t>/ </a:t>
                      </a:r>
                      <a:r>
                        <a:rPr lang="zh-TW" altLang="en-US" dirty="0"/>
                        <a:t>工具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主要功能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430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前端介面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React + Vite + TypeScript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上傳、閱讀、</a:t>
                      </a:r>
                      <a:r>
                        <a:rPr lang="en-US" altLang="zh-TW"/>
                        <a:t>PDF </a:t>
                      </a:r>
                      <a:r>
                        <a:rPr lang="zh-TW" altLang="en-US"/>
                        <a:t>顯示、</a:t>
                      </a:r>
                      <a:r>
                        <a:rPr lang="en-US" altLang="zh-TW"/>
                        <a:t>highlight</a:t>
                      </a:r>
                      <a:r>
                        <a:rPr lang="zh-TW" altLang="en-US"/>
                        <a:t>、編輯與匯出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929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後端 </a:t>
                      </a:r>
                      <a:r>
                        <a:rPr lang="en-US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FastAPI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API</a:t>
                      </a:r>
                      <a:r>
                        <a:rPr lang="zh-TW" altLang="en-US"/>
                        <a:t>、資料驗證、使用者資料歸屬、任務建立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724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資料庫 </a:t>
                      </a:r>
                      <a:r>
                        <a:rPr lang="en-US" altLang="zh-TW"/>
                        <a:t>/ </a:t>
                      </a:r>
                      <a:r>
                        <a:rPr lang="en-US"/>
                        <a:t>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PostgreSQL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儲存論文資料，並以 </a:t>
                      </a:r>
                      <a:r>
                        <a:rPr lang="en-US" dirty="0"/>
                        <a:t>tasks table </a:t>
                      </a:r>
                      <a:r>
                        <a:rPr lang="zh-TW" altLang="en-US" dirty="0"/>
                        <a:t>管理背景任務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1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背景任務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systemd Workers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處理 </a:t>
                      </a:r>
                      <a:r>
                        <a:rPr lang="en-US"/>
                        <a:t>PDF </a:t>
                      </a:r>
                      <a:r>
                        <a:rPr lang="zh-TW" altLang="en-US"/>
                        <a:t>解析、摘要、翻譯、</a:t>
                      </a:r>
                      <a:r>
                        <a:rPr lang="en-US"/>
                        <a:t>Regenerate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471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PDF / AI </a:t>
                      </a:r>
                      <a:r>
                        <a:rPr lang="zh-TW" altLang="en-US"/>
                        <a:t>處理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PyMuPDF、PDF.js、OpenAI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PDF </a:t>
                      </a:r>
                      <a:r>
                        <a:rPr lang="zh-TW" altLang="en-US"/>
                        <a:t>解析與顯示、摘要生成、中文翻譯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595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 / </a:t>
                      </a:r>
                      <a:r>
                        <a:rPr lang="zh-TW" altLang="en-US"/>
                        <a:t>部署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Apache + systemd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前端服務、</a:t>
                      </a:r>
                      <a:r>
                        <a:rPr lang="en-US" dirty="0"/>
                        <a:t>API reverse </a:t>
                      </a:r>
                      <a:r>
                        <a:rPr lang="en-US" dirty="0" err="1"/>
                        <a:t>proxy、API</a:t>
                      </a:r>
                      <a:r>
                        <a:rPr lang="en-US" dirty="0"/>
                        <a:t> / worker </a:t>
                      </a:r>
                      <a:r>
                        <a:rPr lang="zh-TW" altLang="en-US" dirty="0"/>
                        <a:t>常駐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888351"/>
                  </a:ext>
                </a:extLst>
              </a:tr>
            </a:tbl>
          </a:graphicData>
        </a:graphic>
      </p:graphicFrame>
      <p:sp>
        <p:nvSpPr>
          <p:cNvPr id="40" name="文字方塊 39">
            <a:extLst>
              <a:ext uri="{FF2B5EF4-FFF2-40B4-BE49-F238E27FC236}">
                <a16:creationId xmlns:a16="http://schemas.microsoft.com/office/drawing/2014/main" id="{EAC7B683-5A3C-9610-3268-0B4F1A02DE0F}"/>
              </a:ext>
            </a:extLst>
          </p:cNvPr>
          <p:cNvSpPr txBox="1"/>
          <p:nvPr/>
        </p:nvSpPr>
        <p:spPr>
          <a:xfrm>
            <a:off x="341970" y="3636556"/>
            <a:ext cx="45496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部署環境：學校 </a:t>
            </a:r>
            <a:r>
              <a:rPr lang="en-US" altLang="zh-TW" dirty="0"/>
              <a:t>VM / Ubuntu</a:t>
            </a:r>
          </a:p>
          <a:p>
            <a:r>
              <a:rPr lang="zh-TW" altLang="en-US" dirty="0"/>
              <a:t>對外入口：</a:t>
            </a:r>
            <a:r>
              <a:rPr lang="en-US" altLang="zh-TW" dirty="0"/>
              <a:t>/workspace7/</a:t>
            </a:r>
          </a:p>
          <a:p>
            <a:r>
              <a:rPr lang="en-US" altLang="zh-TW" dirty="0"/>
              <a:t>API </a:t>
            </a:r>
            <a:r>
              <a:rPr lang="zh-TW" altLang="en-US" dirty="0"/>
              <a:t>路徑：</a:t>
            </a:r>
            <a:r>
              <a:rPr lang="en-US" altLang="zh-TW" dirty="0"/>
              <a:t>/workspace7/</a:t>
            </a:r>
            <a:r>
              <a:rPr lang="en-US" altLang="zh-TW" dirty="0" err="1"/>
              <a:t>api</a:t>
            </a:r>
            <a:r>
              <a:rPr lang="en-US" altLang="zh-TW" dirty="0"/>
              <a:t>/</a:t>
            </a:r>
          </a:p>
          <a:p>
            <a:r>
              <a:rPr lang="zh-TW" altLang="en-US" dirty="0"/>
              <a:t>服務數量：</a:t>
            </a:r>
            <a:r>
              <a:rPr lang="en-US" altLang="zh-TW" dirty="0"/>
              <a:t>1 API + 2 Workers</a:t>
            </a:r>
          </a:p>
          <a:p>
            <a:r>
              <a:rPr lang="zh-TW" altLang="en-US" dirty="0"/>
              <a:t>儲存位置：</a:t>
            </a:r>
            <a:r>
              <a:rPr lang="en-US" altLang="zh-TW" dirty="0"/>
              <a:t>PostgreSQL + uploads/logs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8FA35E8-159B-29BA-28FD-9FCE36218EF1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3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37">
            <a:extLst>
              <a:ext uri="{FF2B5EF4-FFF2-40B4-BE49-F238E27FC236}">
                <a16:creationId xmlns:a16="http://schemas.microsoft.com/office/drawing/2014/main" id="{F9741BBC-96CF-1EA0-0B0B-4ED135B2096D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3.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介面設計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3CDCEC-E3DD-5AFC-E84D-2521A3E84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99" r="7340"/>
          <a:stretch>
            <a:fillRect/>
          </a:stretch>
        </p:blipFill>
        <p:spPr>
          <a:xfrm>
            <a:off x="350196" y="1917112"/>
            <a:ext cx="3553177" cy="201043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E097B79-2104-8279-F9EC-EFF016D9F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374" y="1917112"/>
            <a:ext cx="4182894" cy="198998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EF49FE5-6DA2-BBEB-68DF-D5FF1A57E286}"/>
              </a:ext>
            </a:extLst>
          </p:cNvPr>
          <p:cNvSpPr txBox="1"/>
          <p:nvPr/>
        </p:nvSpPr>
        <p:spPr>
          <a:xfrm>
            <a:off x="350196" y="1215957"/>
            <a:ext cx="338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首頁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3C7D59E-FF72-9AD7-2375-3384E41B31E6}"/>
              </a:ext>
            </a:extLst>
          </p:cNvPr>
          <p:cNvSpPr txBox="1"/>
          <p:nvPr/>
        </p:nvSpPr>
        <p:spPr>
          <a:xfrm>
            <a:off x="5243208" y="1236404"/>
            <a:ext cx="3385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/>
              <a:t>閱讀頁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AB2C3A3-DFE2-2023-9950-ACEC2011F191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4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51DE4B90-8BFD-E345-3B19-A7F15A98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E252409F-EABA-CA8E-18F7-5ACD8F408CE9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5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  <p:sp>
        <p:nvSpPr>
          <p:cNvPr id="23" name="Google Shape;208;p37">
            <a:extLst>
              <a:ext uri="{FF2B5EF4-FFF2-40B4-BE49-F238E27FC236}">
                <a16:creationId xmlns:a16="http://schemas.microsoft.com/office/drawing/2014/main" id="{FB0A8E11-E531-2F2A-868F-BB1B00997AF6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4.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作業程序設計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169CAD-547C-88F2-37B2-CD1680FD7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5757"/>
            <a:ext cx="9144000" cy="129034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5AADE94-2176-BEE5-C2F1-7CFB6A9385E9}"/>
              </a:ext>
            </a:extLst>
          </p:cNvPr>
          <p:cNvSpPr txBox="1"/>
          <p:nvPr/>
        </p:nvSpPr>
        <p:spPr>
          <a:xfrm>
            <a:off x="131885" y="3314700"/>
            <a:ext cx="4343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作業程序重點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School SSO</a:t>
            </a:r>
            <a:r>
              <a:rPr lang="zh-TW" altLang="en-US" dirty="0"/>
              <a:t>：取得登入身份，不保存密碼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JWT</a:t>
            </a:r>
            <a:r>
              <a:rPr lang="zh-TW" altLang="en-US" dirty="0"/>
              <a:t>：後續 </a:t>
            </a:r>
            <a:r>
              <a:rPr lang="en-US" altLang="zh-TW" dirty="0"/>
              <a:t>API </a:t>
            </a:r>
            <a:r>
              <a:rPr lang="zh-TW" altLang="en-US" dirty="0"/>
              <a:t>驗證與資料隔離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tasks queue</a:t>
            </a:r>
            <a:r>
              <a:rPr lang="zh-TW" altLang="en-US" dirty="0"/>
              <a:t>：耗時工作交由 </a:t>
            </a:r>
            <a:r>
              <a:rPr lang="en-US" altLang="zh-TW" dirty="0"/>
              <a:t>worker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LLM API key</a:t>
            </a:r>
            <a:r>
              <a:rPr lang="zh-TW" altLang="en-US" dirty="0"/>
              <a:t>：後端依 </a:t>
            </a:r>
            <a:r>
              <a:rPr lang="en-US" altLang="zh-TW" dirty="0" err="1"/>
              <a:t>user_account</a:t>
            </a:r>
            <a:r>
              <a:rPr lang="en-US" altLang="zh-TW" dirty="0"/>
              <a:t> </a:t>
            </a:r>
            <a:r>
              <a:rPr lang="zh-TW" altLang="en-US" dirty="0"/>
              <a:t>取得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Regenerate / Edit</a:t>
            </a:r>
            <a:r>
              <a:rPr lang="zh-TW" altLang="en-US" dirty="0"/>
              <a:t>：重工作任務化，避免阻塞 </a:t>
            </a:r>
            <a:r>
              <a:rPr lang="en-US" altLang="zh-TW" dirty="0"/>
              <a:t>API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5331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08;p37">
            <a:extLst>
              <a:ext uri="{FF2B5EF4-FFF2-40B4-BE49-F238E27FC236}">
                <a16:creationId xmlns:a16="http://schemas.microsoft.com/office/drawing/2014/main" id="{297F7C01-BC3C-C0B7-DFCA-E7423AC311F1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5.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輸入</a:t>
            </a: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/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輸出設計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114664E-8596-B502-6187-383AB0CE5331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6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8BF5BF8-B6B2-EC60-30FA-02727146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8989" y="384867"/>
            <a:ext cx="9144000" cy="4373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>
          <a:extLst>
            <a:ext uri="{FF2B5EF4-FFF2-40B4-BE49-F238E27FC236}">
              <a16:creationId xmlns:a16="http://schemas.microsoft.com/office/drawing/2014/main" id="{070380F0-BE9A-819D-E417-5E64C7C01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>
            <a:extLst>
              <a:ext uri="{FF2B5EF4-FFF2-40B4-BE49-F238E27FC236}">
                <a16:creationId xmlns:a16="http://schemas.microsoft.com/office/drawing/2014/main" id="{35DD6C24-153F-4A1F-8F6E-EED9190BD9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17034" y="1095821"/>
            <a:ext cx="3933200" cy="1467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School SSO：</a:t>
            </a:r>
            <a:r>
              <a:rPr lang="zh-TW" altLang="en-US" sz="1400" dirty="0"/>
              <a:t>學校統一登入，不保存密碼</a:t>
            </a:r>
            <a:endParaRPr lang="en-US" altLang="zh-TW" sz="1400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FastAPI</a:t>
            </a:r>
            <a:r>
              <a:rPr lang="en-US" sz="1400" dirty="0"/>
              <a:t> </a:t>
            </a:r>
            <a:r>
              <a:rPr lang="zh-TW" altLang="en-US" sz="1400" dirty="0"/>
              <a:t>發行 </a:t>
            </a:r>
            <a:r>
              <a:rPr lang="en-US" sz="1400" dirty="0"/>
              <a:t>JWT，</a:t>
            </a:r>
            <a:r>
              <a:rPr lang="zh-TW" altLang="en-US" sz="1400" dirty="0"/>
              <a:t>後續 </a:t>
            </a:r>
            <a:r>
              <a:rPr lang="en-US" sz="1400" dirty="0"/>
              <a:t>API </a:t>
            </a:r>
            <a:r>
              <a:rPr lang="zh-TW" altLang="en-US" sz="1400" dirty="0"/>
              <a:t>以 </a:t>
            </a:r>
            <a:r>
              <a:rPr lang="en-US" sz="1400" dirty="0"/>
              <a:t>token </a:t>
            </a:r>
            <a:r>
              <a:rPr lang="zh-TW" altLang="en-US" sz="1400" dirty="0"/>
              <a:t>驗證身份</a:t>
            </a:r>
            <a:endParaRPr lang="en-US" altLang="zh-TW" sz="1400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paper ownership / </a:t>
            </a:r>
            <a:r>
              <a:rPr lang="en-US" sz="1400" dirty="0" err="1"/>
              <a:t>user_id</a:t>
            </a:r>
            <a:r>
              <a:rPr lang="en-US" sz="1400" dirty="0"/>
              <a:t> </a:t>
            </a:r>
            <a:r>
              <a:rPr lang="zh-TW" altLang="en-US" sz="1400" dirty="0"/>
              <a:t>檢查資料歸屬</a:t>
            </a:r>
            <a:endParaRPr lang="en-US" altLang="zh-TW" sz="1400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API Key </a:t>
            </a:r>
            <a:r>
              <a:rPr lang="zh-TW" altLang="en-US" sz="1400" dirty="0"/>
              <a:t>由後端查詢，不暴露到前端</a:t>
            </a:r>
            <a:endParaRPr lang="en-US" altLang="zh-TW" sz="1400" dirty="0"/>
          </a:p>
        </p:txBody>
      </p:sp>
      <p:sp>
        <p:nvSpPr>
          <p:cNvPr id="345" name="Google Shape;345;p47">
            <a:extLst>
              <a:ext uri="{FF2B5EF4-FFF2-40B4-BE49-F238E27FC236}">
                <a16:creationId xmlns:a16="http://schemas.microsoft.com/office/drawing/2014/main" id="{048FD14F-9432-D49A-8658-26D587A43AD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60566" y="723614"/>
            <a:ext cx="37806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1" dirty="0">
                <a:ea typeface="+mn-ea"/>
              </a:rPr>
              <a:t>使用者與權限保護</a:t>
            </a:r>
            <a:endParaRPr b="1" dirty="0">
              <a:ea typeface="+mn-ea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A2709A7-938F-B299-5CB7-D9277527472C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7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  <p:sp>
        <p:nvSpPr>
          <p:cNvPr id="5" name="Google Shape;208;p37">
            <a:extLst>
              <a:ext uri="{FF2B5EF4-FFF2-40B4-BE49-F238E27FC236}">
                <a16:creationId xmlns:a16="http://schemas.microsoft.com/office/drawing/2014/main" id="{DF2FA5C4-2985-6D76-22AB-2918EA353A2D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6.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其他設計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sp>
        <p:nvSpPr>
          <p:cNvPr id="14" name="Google Shape;342;p47">
            <a:extLst>
              <a:ext uri="{FF2B5EF4-FFF2-40B4-BE49-F238E27FC236}">
                <a16:creationId xmlns:a16="http://schemas.microsoft.com/office/drawing/2014/main" id="{37B555DC-087B-0755-DA11-135FC306EBBD}"/>
              </a:ext>
            </a:extLst>
          </p:cNvPr>
          <p:cNvSpPr txBox="1">
            <a:spLocks/>
          </p:cNvSpPr>
          <p:nvPr/>
        </p:nvSpPr>
        <p:spPr>
          <a:xfrm>
            <a:off x="4550234" y="1110501"/>
            <a:ext cx="3933200" cy="1743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限制上傳檔案類型：僅允許 </a:t>
            </a:r>
            <a:r>
              <a:rPr lang="en-US" altLang="zh-TW" sz="1400" dirty="0"/>
              <a:t>PDF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限制檔案大小與檔名長度</a:t>
            </a:r>
            <a:endParaRPr lang="en-US" altLang="zh-TW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限制每位使用者可上傳 </a:t>
            </a:r>
            <a:r>
              <a:rPr lang="en-US" altLang="zh-TW" sz="1400" dirty="0"/>
              <a:t>paper </a:t>
            </a:r>
            <a:r>
              <a:rPr lang="zh-TW" altLang="en-US" sz="1400" dirty="0"/>
              <a:t>數量</a:t>
            </a:r>
            <a:endParaRPr lang="en-US" altLang="zh-TW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限制同一使用者同時處理中的重工作數量</a:t>
            </a:r>
            <a:endParaRPr lang="en-US" altLang="zh-TW" sz="1400" dirty="0"/>
          </a:p>
        </p:txBody>
      </p:sp>
      <p:sp>
        <p:nvSpPr>
          <p:cNvPr id="15" name="Google Shape;345;p47">
            <a:extLst>
              <a:ext uri="{FF2B5EF4-FFF2-40B4-BE49-F238E27FC236}">
                <a16:creationId xmlns:a16="http://schemas.microsoft.com/office/drawing/2014/main" id="{FBE28314-3C4A-EA54-46A1-D842ADAEE462}"/>
              </a:ext>
            </a:extLst>
          </p:cNvPr>
          <p:cNvSpPr txBox="1">
            <a:spLocks/>
          </p:cNvSpPr>
          <p:nvPr/>
        </p:nvSpPr>
        <p:spPr>
          <a:xfrm>
            <a:off x="4593766" y="723614"/>
            <a:ext cx="3780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zh-TW" altLang="en-US" b="1" dirty="0">
                <a:ea typeface="+mn-ea"/>
              </a:rPr>
              <a:t>上傳與資源限制</a:t>
            </a:r>
          </a:p>
        </p:txBody>
      </p:sp>
      <p:sp>
        <p:nvSpPr>
          <p:cNvPr id="24" name="Google Shape;342;p47">
            <a:extLst>
              <a:ext uri="{FF2B5EF4-FFF2-40B4-BE49-F238E27FC236}">
                <a16:creationId xmlns:a16="http://schemas.microsoft.com/office/drawing/2014/main" id="{2B8EC22A-2B35-73F6-27DE-36D075C70E35}"/>
              </a:ext>
            </a:extLst>
          </p:cNvPr>
          <p:cNvSpPr txBox="1">
            <a:spLocks/>
          </p:cNvSpPr>
          <p:nvPr/>
        </p:nvSpPr>
        <p:spPr>
          <a:xfrm>
            <a:off x="617034" y="3155092"/>
            <a:ext cx="3933200" cy="1743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tasks table </a:t>
            </a:r>
            <a:r>
              <a:rPr lang="zh-TW" altLang="en-US" sz="1400" dirty="0"/>
              <a:t>管理 任務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worker heartbeat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stale task reclaim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max attempts / failed </a:t>
            </a:r>
            <a:r>
              <a:rPr lang="zh-TW" altLang="en-US" sz="1400" dirty="0"/>
              <a:t>狀態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systemd</a:t>
            </a:r>
            <a:r>
              <a:rPr lang="en-US" sz="1400" dirty="0"/>
              <a:t> </a:t>
            </a:r>
            <a:r>
              <a:rPr lang="zh-TW" altLang="en-US" sz="1400" dirty="0"/>
              <a:t>管理 </a:t>
            </a:r>
            <a:r>
              <a:rPr lang="en-US" sz="1400" dirty="0"/>
              <a:t>API </a:t>
            </a:r>
            <a:r>
              <a:rPr lang="zh-TW" altLang="en-US" sz="1400" dirty="0"/>
              <a:t>與 </a:t>
            </a:r>
            <a:r>
              <a:rPr lang="en-US" sz="1400" dirty="0"/>
              <a:t>worker，</a:t>
            </a:r>
            <a:r>
              <a:rPr lang="zh-TW" altLang="en-US" sz="1400" dirty="0"/>
              <a:t>自動重啟</a:t>
            </a:r>
            <a:endParaRPr lang="en-US" altLang="zh-TW" sz="1400" dirty="0"/>
          </a:p>
        </p:txBody>
      </p:sp>
      <p:sp>
        <p:nvSpPr>
          <p:cNvPr id="25" name="Google Shape;345;p47">
            <a:extLst>
              <a:ext uri="{FF2B5EF4-FFF2-40B4-BE49-F238E27FC236}">
                <a16:creationId xmlns:a16="http://schemas.microsoft.com/office/drawing/2014/main" id="{8E3EBB81-7905-02CF-1E00-DF85516170C9}"/>
              </a:ext>
            </a:extLst>
          </p:cNvPr>
          <p:cNvSpPr txBox="1">
            <a:spLocks/>
          </p:cNvSpPr>
          <p:nvPr/>
        </p:nvSpPr>
        <p:spPr>
          <a:xfrm>
            <a:off x="660566" y="2778131"/>
            <a:ext cx="3780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altLang="zh-TW" dirty="0"/>
              <a:t>Queue / Worker </a:t>
            </a:r>
            <a:r>
              <a:rPr lang="zh-TW" altLang="en-US" dirty="0"/>
              <a:t>恢復</a:t>
            </a:r>
            <a:endParaRPr lang="zh-TW" altLang="en-US" b="1" dirty="0">
              <a:ea typeface="+mn-ea"/>
            </a:endParaRPr>
          </a:p>
        </p:txBody>
      </p:sp>
      <p:sp>
        <p:nvSpPr>
          <p:cNvPr id="28" name="Google Shape;342;p47">
            <a:extLst>
              <a:ext uri="{FF2B5EF4-FFF2-40B4-BE49-F238E27FC236}">
                <a16:creationId xmlns:a16="http://schemas.microsoft.com/office/drawing/2014/main" id="{A41F2680-D701-07C8-B297-6760533C92BD}"/>
              </a:ext>
            </a:extLst>
          </p:cNvPr>
          <p:cNvSpPr txBox="1">
            <a:spLocks/>
          </p:cNvSpPr>
          <p:nvPr/>
        </p:nvSpPr>
        <p:spPr>
          <a:xfrm>
            <a:off x="4550234" y="3155092"/>
            <a:ext cx="4632680" cy="1743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重工作進行中禁止段落編輯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/>
              <a:t>多設備刪除後 </a:t>
            </a:r>
            <a:r>
              <a:rPr lang="en-US" altLang="zh-TW" sz="1400" dirty="0" err="1"/>
              <a:t>ReaderPage</a:t>
            </a:r>
            <a:r>
              <a:rPr lang="en-US" altLang="zh-TW" sz="1400" dirty="0"/>
              <a:t> </a:t>
            </a:r>
            <a:r>
              <a:rPr lang="zh-TW" altLang="en-US" sz="1400" dirty="0"/>
              <a:t>自動返回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LLM </a:t>
            </a:r>
            <a:r>
              <a:rPr lang="zh-TW" altLang="en-US" sz="1400" dirty="0"/>
              <a:t>錯誤提示：</a:t>
            </a:r>
            <a:r>
              <a:rPr lang="en-US" altLang="zh-TW" sz="1400" dirty="0"/>
              <a:t>invalid key / quota / rate limit / timeout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400" dirty="0"/>
              <a:t>incoming cleanup / orphan file scan</a:t>
            </a:r>
          </a:p>
        </p:txBody>
      </p:sp>
      <p:sp>
        <p:nvSpPr>
          <p:cNvPr id="29" name="Google Shape;345;p47">
            <a:extLst>
              <a:ext uri="{FF2B5EF4-FFF2-40B4-BE49-F238E27FC236}">
                <a16:creationId xmlns:a16="http://schemas.microsoft.com/office/drawing/2014/main" id="{997AA755-5368-7668-526F-9DC9AB0B1C47}"/>
              </a:ext>
            </a:extLst>
          </p:cNvPr>
          <p:cNvSpPr txBox="1">
            <a:spLocks/>
          </p:cNvSpPr>
          <p:nvPr/>
        </p:nvSpPr>
        <p:spPr>
          <a:xfrm>
            <a:off x="4550234" y="2778131"/>
            <a:ext cx="3780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zh-TW" altLang="en-US" b="1" dirty="0">
                <a:ea typeface="+mn-ea"/>
              </a:rPr>
              <a:t>操作衝突與錯誤處理</a:t>
            </a:r>
          </a:p>
        </p:txBody>
      </p:sp>
    </p:spTree>
    <p:extLst>
      <p:ext uri="{BB962C8B-B14F-4D97-AF65-F5344CB8AC3E}">
        <p14:creationId xmlns:p14="http://schemas.microsoft.com/office/powerpoint/2010/main" val="3669514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425CB07-43C1-71F8-8A5F-F35A0F943DCF}"/>
              </a:ext>
            </a:extLst>
          </p:cNvPr>
          <p:cNvSpPr txBox="1"/>
          <p:nvPr/>
        </p:nvSpPr>
        <p:spPr>
          <a:xfrm>
            <a:off x="8526966" y="4835723"/>
            <a:ext cx="6170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/>
              <a:t>8</a:t>
            </a:r>
            <a:r>
              <a:rPr lang="zh-TW" altLang="en-US" sz="1000" dirty="0"/>
              <a:t>  </a:t>
            </a:r>
            <a:r>
              <a:rPr lang="en-US" altLang="zh-TW" sz="1000" dirty="0"/>
              <a:t>/</a:t>
            </a:r>
            <a:r>
              <a:rPr lang="zh-TW" altLang="en-US" sz="1000" dirty="0"/>
              <a:t>  </a:t>
            </a:r>
            <a:r>
              <a:rPr lang="en-US" altLang="zh-TW" sz="1000" dirty="0"/>
              <a:t>8</a:t>
            </a:r>
            <a:endParaRPr lang="zh-TW" altLang="en-US" sz="1000" dirty="0"/>
          </a:p>
        </p:txBody>
      </p:sp>
      <p:sp>
        <p:nvSpPr>
          <p:cNvPr id="7" name="Google Shape;208;p37">
            <a:extLst>
              <a:ext uri="{FF2B5EF4-FFF2-40B4-BE49-F238E27FC236}">
                <a16:creationId xmlns:a16="http://schemas.microsoft.com/office/drawing/2014/main" id="{70FB121F-CA4D-55F4-4998-77A266016AA2}"/>
              </a:ext>
            </a:extLst>
          </p:cNvPr>
          <p:cNvSpPr txBox="1">
            <a:spLocks/>
          </p:cNvSpPr>
          <p:nvPr/>
        </p:nvSpPr>
        <p:spPr>
          <a:xfrm>
            <a:off x="266061" y="164767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en-US" altLang="zh-TW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7.</a:t>
            </a:r>
            <a:r>
              <a:rPr lang="zh-TW" altLang="en-US" sz="2500" dirty="0">
                <a:solidFill>
                  <a:schemeClr val="dk1"/>
                </a:solidFill>
                <a:latin typeface="Alexandria Medium"/>
                <a:cs typeface="Alexandria Medium"/>
                <a:sym typeface="Alexandria Medium"/>
              </a:rPr>
              <a:t> 需求制設計之追溯與版本管理</a:t>
            </a:r>
            <a:endParaRPr lang="en-US" sz="2500" dirty="0">
              <a:solidFill>
                <a:schemeClr val="dk1"/>
              </a:solidFill>
              <a:latin typeface="Alexandria Medium"/>
              <a:cs typeface="Alexandria Medium"/>
              <a:sym typeface="Alexandria Medium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D04E1CE-FA7A-7975-B497-FFB2B89FE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836974"/>
              </p:ext>
            </p:extLst>
          </p:nvPr>
        </p:nvGraphicFramePr>
        <p:xfrm>
          <a:off x="1027464" y="713467"/>
          <a:ext cx="7359533" cy="3945856"/>
        </p:xfrm>
        <a:graphic>
          <a:graphicData uri="http://schemas.openxmlformats.org/drawingml/2006/table">
            <a:tbl>
              <a:tblPr/>
              <a:tblGrid>
                <a:gridCol w="3285124">
                  <a:extLst>
                    <a:ext uri="{9D8B030D-6E8A-4147-A177-3AD203B41FA5}">
                      <a16:colId xmlns:a16="http://schemas.microsoft.com/office/drawing/2014/main" val="1205620881"/>
                    </a:ext>
                  </a:extLst>
                </a:gridCol>
                <a:gridCol w="4074409">
                  <a:extLst>
                    <a:ext uri="{9D8B030D-6E8A-4147-A177-3AD203B41FA5}">
                      <a16:colId xmlns:a16="http://schemas.microsoft.com/office/drawing/2014/main" val="351998188"/>
                    </a:ext>
                  </a:extLst>
                </a:gridCol>
              </a:tblGrid>
              <a:tr h="241387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2000" dirty="0"/>
                        <a:t>需求追溯表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zh-TW" altLang="en-US" sz="1100" dirty="0"/>
                    </a:p>
                  </a:txBody>
                  <a:tcPr marL="72416" marR="72416" marT="36208" marB="3620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019296"/>
                  </a:ext>
                </a:extLst>
              </a:tr>
              <a:tr h="241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需求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對應設計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065819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PDF </a:t>
                      </a:r>
                      <a:r>
                        <a:rPr lang="zh-TW" altLang="en-US" sz="1400"/>
                        <a:t>上傳與閱讀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Upload </a:t>
                      </a:r>
                      <a:r>
                        <a:rPr lang="en-US" sz="1400" dirty="0" err="1"/>
                        <a:t>API、ReaderPage、PDF</a:t>
                      </a:r>
                      <a:r>
                        <a:rPr lang="en-US" sz="1400" dirty="0"/>
                        <a:t> Viewer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661901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論文解析與摘要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parse_overview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task、Parser、LLM</a:t>
                      </a:r>
                      <a:endParaRPr lang="en-US" sz="1400" dirty="0"/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645708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中文翻譯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translate_zh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task、Translation</a:t>
                      </a:r>
                      <a:r>
                        <a:rPr lang="en-US" sz="1400" dirty="0"/>
                        <a:t> Service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84551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互動操作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highlight、edit、regenerate、export、delete</a:t>
                      </a:r>
                      <a:endParaRPr lang="en-US" sz="1400" dirty="0"/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594614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背景任務恢復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tasks </a:t>
                      </a:r>
                      <a:r>
                        <a:rPr lang="en-US" sz="1400" dirty="0" err="1"/>
                        <a:t>table、workers、heartbeat、stale</a:t>
                      </a:r>
                      <a:r>
                        <a:rPr lang="en-US" sz="1400" dirty="0"/>
                        <a:t> reclaim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028513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使用者資料隔離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School </a:t>
                      </a:r>
                      <a:r>
                        <a:rPr lang="en-US" sz="1400" dirty="0" err="1"/>
                        <a:t>SSO、JWT、user_id、paper</a:t>
                      </a:r>
                      <a:r>
                        <a:rPr lang="en-US" sz="1400" dirty="0"/>
                        <a:t> ownership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249215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個人 </a:t>
                      </a:r>
                      <a:r>
                        <a:rPr lang="en-US" altLang="zh-TW" dirty="0"/>
                        <a:t>AI </a:t>
                      </a:r>
                      <a:r>
                        <a:rPr lang="zh-TW" altLang="en-US" dirty="0"/>
                        <a:t>服務額度</a:t>
                      </a:r>
                      <a:endParaRPr lang="zh-TW" altLang="en-US" sz="1400" dirty="0"/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 err="1"/>
                        <a:t>user_account</a:t>
                      </a:r>
                      <a:r>
                        <a:rPr lang="en-US" altLang="zh-TW" dirty="0"/>
                        <a:t> </a:t>
                      </a:r>
                      <a:r>
                        <a:rPr lang="zh-TW" altLang="en-US" dirty="0"/>
                        <a:t>對應 </a:t>
                      </a:r>
                      <a:r>
                        <a:rPr lang="en-US" altLang="zh-TW" dirty="0"/>
                        <a:t>Gateway API key</a:t>
                      </a:r>
                      <a:endParaRPr lang="en-US" sz="1400" dirty="0"/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42995"/>
                  </a:ext>
                </a:extLst>
              </a:tr>
              <a:tr h="410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上線部署</a:t>
                      </a:r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Apache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 err="1"/>
                        <a:t>systemd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/>
                        <a:t>PostgreSQL</a:t>
                      </a:r>
                      <a:r>
                        <a:rPr lang="zh-TW" altLang="en-US" dirty="0"/>
                        <a:t>、雙 </a:t>
                      </a:r>
                      <a:r>
                        <a:rPr lang="en-US" altLang="zh-TW" dirty="0"/>
                        <a:t>worker</a:t>
                      </a:r>
                      <a:endParaRPr lang="en-US" sz="1400" dirty="0"/>
                    </a:p>
                  </a:txBody>
                  <a:tcPr marL="72416" marR="72416" marT="36208" marB="36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553826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6D2CCB0E-5A47-5CD3-B5E5-C42F6AB7BE4E}"/>
              </a:ext>
            </a:extLst>
          </p:cNvPr>
          <p:cNvSpPr txBox="1"/>
          <p:nvPr/>
        </p:nvSpPr>
        <p:spPr>
          <a:xfrm>
            <a:off x="3665413" y="4774167"/>
            <a:ext cx="2083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目前版本：</a:t>
            </a:r>
            <a:r>
              <a:rPr lang="en-US" altLang="zh-TW" dirty="0"/>
              <a:t>v1.0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2378</Words>
  <Application>Microsoft Office PowerPoint</Application>
  <PresentationFormat>如螢幕大小 (16:9)</PresentationFormat>
  <Paragraphs>138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Alexandria Medium</vt:lpstr>
      <vt:lpstr>Arial</vt:lpstr>
      <vt:lpstr>Mulish</vt:lpstr>
      <vt:lpstr>Albert Sans</vt:lpstr>
      <vt:lpstr>Lead Funnel by Slidesgo</vt:lpstr>
      <vt:lpstr>AI 論文閱讀 輔助系統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劉曉帆</cp:lastModifiedBy>
  <cp:revision>7</cp:revision>
  <dcterms:modified xsi:type="dcterms:W3CDTF">2026-05-31T22:38:44Z</dcterms:modified>
</cp:coreProperties>
</file>